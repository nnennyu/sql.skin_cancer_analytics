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1.xml" ContentType="application/vnd.ms-office.chartex+xml"/>
  <Override PartName="/ppt/charts/style5.xml" ContentType="application/vnd.ms-office.chartstyle+xml"/>
  <Override PartName="/ppt/charts/colors5.xml" ContentType="application/vnd.ms-office.chartcolorstyle+xml"/>
  <Override PartName="/ppt/charts/chartEx2.xml" ContentType="application/vnd.ms-office.chartex+xml"/>
  <Override PartName="/ppt/charts/style6.xml" ContentType="application/vnd.ms-office.chartstyle+xml"/>
  <Override PartName="/ppt/charts/colors6.xml" ContentType="application/vnd.ms-office.chartcolorstyle+xml"/>
  <Override PartName="/ppt/charts/chart5.xml" ContentType="application/vnd.openxmlformats-officedocument.drawingml.chart+xml"/>
  <Override PartName="/ppt/charts/style7.xml" ContentType="application/vnd.ms-office.chartstyle+xml"/>
  <Override PartName="/ppt/charts/colors7.xml" ContentType="application/vnd.ms-office.chartcolorstyle+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xml" ContentType="application/vnd.openxmlformats-officedocument.presentationml.notesSlid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67" r:id="rId3"/>
    <p:sldId id="271" r:id="rId4"/>
    <p:sldId id="272" r:id="rId5"/>
    <p:sldId id="283" r:id="rId6"/>
    <p:sldId id="269" r:id="rId7"/>
    <p:sldId id="278" r:id="rId8"/>
    <p:sldId id="275" r:id="rId9"/>
    <p:sldId id="284" r:id="rId10"/>
    <p:sldId id="282" r:id="rId11"/>
    <p:sldId id="273" r:id="rId12"/>
    <p:sldId id="280" r:id="rId13"/>
    <p:sldId id="285" r:id="rId14"/>
    <p:sldId id="281" r:id="rId15"/>
    <p:sldId id="286" r:id="rId16"/>
    <p:sldId id="287" r:id="rId17"/>
    <p:sldId id="288"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D34B4-70C8-4F9E-A108-9333A4295F43}" v="35" dt="2026-10-03T17:18:33.028"/>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p:cViewPr varScale="1">
        <p:scale>
          <a:sx n="59" d="100"/>
          <a:sy n="59" d="100"/>
        </p:scale>
        <p:origin x="964" y="5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nennaya Ihekwoaba" userId="09c9427f7bc7d59c" providerId="LiveId" clId="{69C1BD19-1D44-4A3F-A183-D0C385ECE59C}"/>
    <pc:docChg chg="custSel modSld">
      <pc:chgData name="Nnennaya Ihekwoaba" userId="09c9427f7bc7d59c" providerId="LiveId" clId="{69C1BD19-1D44-4A3F-A183-D0C385ECE59C}" dt="2026-10-03T17:18:33.028" v="424"/>
      <pc:docMkLst>
        <pc:docMk/>
      </pc:docMkLst>
      <pc:sldChg chg="modSp mod">
        <pc:chgData name="Nnennaya Ihekwoaba" userId="09c9427f7bc7d59c" providerId="LiveId" clId="{69C1BD19-1D44-4A3F-A183-D0C385ECE59C}" dt="2026-10-03T05:25:41.894" v="2" actId="14100"/>
        <pc:sldMkLst>
          <pc:docMk/>
          <pc:sldMk cId="435141664" sldId="256"/>
        </pc:sldMkLst>
        <pc:spChg chg="mod">
          <ac:chgData name="Nnennaya Ihekwoaba" userId="09c9427f7bc7d59c" providerId="LiveId" clId="{69C1BD19-1D44-4A3F-A183-D0C385ECE59C}" dt="2026-10-03T05:25:41.894" v="2" actId="14100"/>
          <ac:spMkLst>
            <pc:docMk/>
            <pc:sldMk cId="435141664" sldId="256"/>
            <ac:spMk id="7" creationId="{DF3C08BC-3E3D-A1AC-BB06-6A569ACCFAD1}"/>
          </ac:spMkLst>
        </pc:spChg>
      </pc:sldChg>
      <pc:sldChg chg="modSp mod">
        <pc:chgData name="Nnennaya Ihekwoaba" userId="09c9427f7bc7d59c" providerId="LiveId" clId="{69C1BD19-1D44-4A3F-A183-D0C385ECE59C}" dt="2026-10-03T11:11:32.801" v="142" actId="20577"/>
        <pc:sldMkLst>
          <pc:docMk/>
          <pc:sldMk cId="2951095572" sldId="267"/>
        </pc:sldMkLst>
        <pc:spChg chg="mod">
          <ac:chgData name="Nnennaya Ihekwoaba" userId="09c9427f7bc7d59c" providerId="LiveId" clId="{69C1BD19-1D44-4A3F-A183-D0C385ECE59C}" dt="2026-10-03T11:11:32.801" v="142" actId="20577"/>
          <ac:spMkLst>
            <pc:docMk/>
            <pc:sldMk cId="2951095572" sldId="267"/>
            <ac:spMk id="3" creationId="{F4E746D5-9EB5-8FE4-7FF1-59B4C407E3F0}"/>
          </ac:spMkLst>
        </pc:spChg>
      </pc:sldChg>
      <pc:sldChg chg="modSp mod">
        <pc:chgData name="Nnennaya Ihekwoaba" userId="09c9427f7bc7d59c" providerId="LiveId" clId="{69C1BD19-1D44-4A3F-A183-D0C385ECE59C}" dt="2026-10-03T10:53:22.491" v="112" actId="27636"/>
        <pc:sldMkLst>
          <pc:docMk/>
          <pc:sldMk cId="822559399" sldId="269"/>
        </pc:sldMkLst>
        <pc:spChg chg="mod">
          <ac:chgData name="Nnennaya Ihekwoaba" userId="09c9427f7bc7d59c" providerId="LiveId" clId="{69C1BD19-1D44-4A3F-A183-D0C385ECE59C}" dt="2026-10-03T10:53:22.491" v="112" actId="27636"/>
          <ac:spMkLst>
            <pc:docMk/>
            <pc:sldMk cId="822559399" sldId="269"/>
            <ac:spMk id="14" creationId="{040F4086-5076-D59C-ACEC-34187959F3BD}"/>
          </ac:spMkLst>
        </pc:spChg>
        <pc:graphicFrameChg chg="mod">
          <ac:chgData name="Nnennaya Ihekwoaba" userId="09c9427f7bc7d59c" providerId="LiveId" clId="{69C1BD19-1D44-4A3F-A183-D0C385ECE59C}" dt="2026-10-03T10:53:12.578" v="109" actId="255"/>
          <ac:graphicFrameMkLst>
            <pc:docMk/>
            <pc:sldMk cId="822559399" sldId="269"/>
            <ac:graphicFrameMk id="2" creationId="{F5F6BF93-9A2D-401E-A80C-30CCADDD10A8}"/>
          </ac:graphicFrameMkLst>
        </pc:graphicFrameChg>
      </pc:sldChg>
      <pc:sldChg chg="modSp mod">
        <pc:chgData name="Nnennaya Ihekwoaba" userId="09c9427f7bc7d59c" providerId="LiveId" clId="{69C1BD19-1D44-4A3F-A183-D0C385ECE59C}" dt="2026-10-03T10:53:39" v="115" actId="14100"/>
        <pc:sldMkLst>
          <pc:docMk/>
          <pc:sldMk cId="260711379" sldId="271"/>
        </pc:sldMkLst>
        <pc:spChg chg="mod">
          <ac:chgData name="Nnennaya Ihekwoaba" userId="09c9427f7bc7d59c" providerId="LiveId" clId="{69C1BD19-1D44-4A3F-A183-D0C385ECE59C}" dt="2026-10-03T10:53:39" v="115" actId="14100"/>
          <ac:spMkLst>
            <pc:docMk/>
            <pc:sldMk cId="260711379" sldId="271"/>
            <ac:spMk id="3" creationId="{F12E027A-FBA9-315B-84E3-59826181D744}"/>
          </ac:spMkLst>
        </pc:spChg>
      </pc:sldChg>
      <pc:sldChg chg="modSp mod">
        <pc:chgData name="Nnennaya Ihekwoaba" userId="09c9427f7bc7d59c" providerId="LiveId" clId="{69C1BD19-1D44-4A3F-A183-D0C385ECE59C}" dt="2026-10-03T10:53:31.302" v="114" actId="27636"/>
        <pc:sldMkLst>
          <pc:docMk/>
          <pc:sldMk cId="1563486519" sldId="272"/>
        </pc:sldMkLst>
        <pc:spChg chg="mod">
          <ac:chgData name="Nnennaya Ihekwoaba" userId="09c9427f7bc7d59c" providerId="LiveId" clId="{69C1BD19-1D44-4A3F-A183-D0C385ECE59C}" dt="2026-10-03T10:53:31.302" v="114" actId="27636"/>
          <ac:spMkLst>
            <pc:docMk/>
            <pc:sldMk cId="1563486519" sldId="272"/>
            <ac:spMk id="3" creationId="{B23ECC2F-92BC-1A08-B694-03A83775C2B4}"/>
          </ac:spMkLst>
        </pc:spChg>
      </pc:sldChg>
      <pc:sldChg chg="modSp mod">
        <pc:chgData name="Nnennaya Ihekwoaba" userId="09c9427f7bc7d59c" providerId="LiveId" clId="{69C1BD19-1D44-4A3F-A183-D0C385ECE59C}" dt="2026-10-03T10:56:42.216" v="129" actId="113"/>
        <pc:sldMkLst>
          <pc:docMk/>
          <pc:sldMk cId="2178128373" sldId="273"/>
        </pc:sldMkLst>
        <pc:spChg chg="mod">
          <ac:chgData name="Nnennaya Ihekwoaba" userId="09c9427f7bc7d59c" providerId="LiveId" clId="{69C1BD19-1D44-4A3F-A183-D0C385ECE59C}" dt="2026-10-03T10:56:42.216" v="129" actId="113"/>
          <ac:spMkLst>
            <pc:docMk/>
            <pc:sldMk cId="2178128373" sldId="273"/>
            <ac:spMk id="10" creationId="{6D26301E-4CB7-50FF-BD54-C658381478D4}"/>
          </ac:spMkLst>
        </pc:spChg>
      </pc:sldChg>
      <pc:sldChg chg="modSp mod">
        <pc:chgData name="Nnennaya Ihekwoaba" userId="09c9427f7bc7d59c" providerId="LiveId" clId="{69C1BD19-1D44-4A3F-A183-D0C385ECE59C}" dt="2026-10-03T10:55:12.736" v="122" actId="113"/>
        <pc:sldMkLst>
          <pc:docMk/>
          <pc:sldMk cId="2922734729" sldId="275"/>
        </pc:sldMkLst>
        <pc:spChg chg="mod">
          <ac:chgData name="Nnennaya Ihekwoaba" userId="09c9427f7bc7d59c" providerId="LiveId" clId="{69C1BD19-1D44-4A3F-A183-D0C385ECE59C}" dt="2026-10-03T10:55:12.736" v="122" actId="113"/>
          <ac:spMkLst>
            <pc:docMk/>
            <pc:sldMk cId="2922734729" sldId="275"/>
            <ac:spMk id="8" creationId="{F23721C5-EF9D-164A-E62A-674AB84DEFB6}"/>
          </ac:spMkLst>
        </pc:spChg>
      </pc:sldChg>
      <pc:sldChg chg="modSp mod">
        <pc:chgData name="Nnennaya Ihekwoaba" userId="09c9427f7bc7d59c" providerId="LiveId" clId="{69C1BD19-1D44-4A3F-A183-D0C385ECE59C}" dt="2026-10-03T10:56:16.920" v="125" actId="113"/>
        <pc:sldMkLst>
          <pc:docMk/>
          <pc:sldMk cId="802669164" sldId="278"/>
        </pc:sldMkLst>
        <pc:spChg chg="mod">
          <ac:chgData name="Nnennaya Ihekwoaba" userId="09c9427f7bc7d59c" providerId="LiveId" clId="{69C1BD19-1D44-4A3F-A183-D0C385ECE59C}" dt="2026-10-03T10:56:16.920" v="125" actId="113"/>
          <ac:spMkLst>
            <pc:docMk/>
            <pc:sldMk cId="802669164" sldId="278"/>
            <ac:spMk id="7" creationId="{20F8343E-C882-AB0B-563A-E1E3C46643DE}"/>
          </ac:spMkLst>
        </pc:spChg>
      </pc:sldChg>
      <pc:sldChg chg="modSp mod">
        <pc:chgData name="Nnennaya Ihekwoaba" userId="09c9427f7bc7d59c" providerId="LiveId" clId="{69C1BD19-1D44-4A3F-A183-D0C385ECE59C}" dt="2026-10-03T10:57:20.250" v="131" actId="113"/>
        <pc:sldMkLst>
          <pc:docMk/>
          <pc:sldMk cId="3478862948" sldId="280"/>
        </pc:sldMkLst>
        <pc:spChg chg="mod">
          <ac:chgData name="Nnennaya Ihekwoaba" userId="09c9427f7bc7d59c" providerId="LiveId" clId="{69C1BD19-1D44-4A3F-A183-D0C385ECE59C}" dt="2026-10-03T10:57:20.250" v="131" actId="113"/>
          <ac:spMkLst>
            <pc:docMk/>
            <pc:sldMk cId="3478862948" sldId="280"/>
            <ac:spMk id="7" creationId="{9A05224E-8F4E-C0C2-3DDC-4EE44838BA96}"/>
          </ac:spMkLst>
        </pc:spChg>
      </pc:sldChg>
      <pc:sldChg chg="modSp mod">
        <pc:chgData name="Nnennaya Ihekwoaba" userId="09c9427f7bc7d59c" providerId="LiveId" clId="{69C1BD19-1D44-4A3F-A183-D0C385ECE59C}" dt="2026-10-03T10:56:24.450" v="126" actId="113"/>
        <pc:sldMkLst>
          <pc:docMk/>
          <pc:sldMk cId="130717891" sldId="282"/>
        </pc:sldMkLst>
        <pc:spChg chg="mod">
          <ac:chgData name="Nnennaya Ihekwoaba" userId="09c9427f7bc7d59c" providerId="LiveId" clId="{69C1BD19-1D44-4A3F-A183-D0C385ECE59C}" dt="2026-10-03T10:56:24.450" v="126" actId="113"/>
          <ac:spMkLst>
            <pc:docMk/>
            <pc:sldMk cId="130717891" sldId="282"/>
            <ac:spMk id="7" creationId="{E1A630DE-41D9-4E6A-B791-BD96B1346395}"/>
          </ac:spMkLst>
        </pc:spChg>
      </pc:sldChg>
      <pc:sldChg chg="modSp mod">
        <pc:chgData name="Nnennaya Ihekwoaba" userId="09c9427f7bc7d59c" providerId="LiveId" clId="{69C1BD19-1D44-4A3F-A183-D0C385ECE59C}" dt="2026-10-03T10:56:04.478" v="124" actId="113"/>
        <pc:sldMkLst>
          <pc:docMk/>
          <pc:sldMk cId="2073695641" sldId="284"/>
        </pc:sldMkLst>
        <pc:spChg chg="mod">
          <ac:chgData name="Nnennaya Ihekwoaba" userId="09c9427f7bc7d59c" providerId="LiveId" clId="{69C1BD19-1D44-4A3F-A183-D0C385ECE59C}" dt="2026-10-03T10:56:04.478" v="124" actId="113"/>
          <ac:spMkLst>
            <pc:docMk/>
            <pc:sldMk cId="2073695641" sldId="284"/>
            <ac:spMk id="7" creationId="{C094DE72-1EF1-F947-9801-EEACDF9F072F}"/>
          </ac:spMkLst>
        </pc:spChg>
      </pc:sldChg>
      <pc:sldChg chg="addSp delSp modSp mod">
        <pc:chgData name="Nnennaya Ihekwoaba" userId="09c9427f7bc7d59c" providerId="LiveId" clId="{69C1BD19-1D44-4A3F-A183-D0C385ECE59C}" dt="2026-10-03T13:06:29.616" v="404" actId="113"/>
        <pc:sldMkLst>
          <pc:docMk/>
          <pc:sldMk cId="987541694" sldId="285"/>
        </pc:sldMkLst>
        <pc:spChg chg="mod">
          <ac:chgData name="Nnennaya Ihekwoaba" userId="09c9427f7bc7d59c" providerId="LiveId" clId="{69C1BD19-1D44-4A3F-A183-D0C385ECE59C}" dt="2026-10-03T10:56:54.523" v="130" actId="113"/>
          <ac:spMkLst>
            <pc:docMk/>
            <pc:sldMk cId="987541694" sldId="285"/>
            <ac:spMk id="7" creationId="{55B12B45-2EE0-5ECA-2043-7032C03DD5F7}"/>
          </ac:spMkLst>
        </pc:spChg>
        <pc:graphicFrameChg chg="del mod">
          <ac:chgData name="Nnennaya Ihekwoaba" userId="09c9427f7bc7d59c" providerId="LiveId" clId="{69C1BD19-1D44-4A3F-A183-D0C385ECE59C}" dt="2026-10-03T13:04:16.786" v="394" actId="478"/>
          <ac:graphicFrameMkLst>
            <pc:docMk/>
            <pc:sldMk cId="987541694" sldId="285"/>
            <ac:graphicFrameMk id="2" creationId="{D0995DAB-34C7-40E0-93B4-3C5EC948864F}"/>
          </ac:graphicFrameMkLst>
        </pc:graphicFrameChg>
        <pc:graphicFrameChg chg="add mod">
          <ac:chgData name="Nnennaya Ihekwoaba" userId="09c9427f7bc7d59c" providerId="LiveId" clId="{69C1BD19-1D44-4A3F-A183-D0C385ECE59C}" dt="2026-10-03T13:06:29.616" v="404" actId="113"/>
          <ac:graphicFrameMkLst>
            <pc:docMk/>
            <pc:sldMk cId="987541694" sldId="285"/>
            <ac:graphicFrameMk id="5" creationId="{F796B7F6-360F-9680-14F4-86E4A4C6D1DC}"/>
          </ac:graphicFrameMkLst>
        </pc:graphicFrameChg>
      </pc:sldChg>
      <pc:sldChg chg="modSp mod">
        <pc:chgData name="Nnennaya Ihekwoaba" userId="09c9427f7bc7d59c" providerId="LiveId" clId="{69C1BD19-1D44-4A3F-A183-D0C385ECE59C}" dt="2026-10-03T12:26:56.370" v="381" actId="20577"/>
        <pc:sldMkLst>
          <pc:docMk/>
          <pc:sldMk cId="1495634405" sldId="286"/>
        </pc:sldMkLst>
        <pc:spChg chg="mod">
          <ac:chgData name="Nnennaya Ihekwoaba" userId="09c9427f7bc7d59c" providerId="LiveId" clId="{69C1BD19-1D44-4A3F-A183-D0C385ECE59C}" dt="2026-10-03T12:26:56.370" v="381" actId="20577"/>
          <ac:spMkLst>
            <pc:docMk/>
            <pc:sldMk cId="1495634405" sldId="286"/>
            <ac:spMk id="7" creationId="{15875B10-8AF3-512F-6146-DB154EB37F0D}"/>
          </ac:spMkLst>
        </pc:spChg>
      </pc:sldChg>
      <pc:sldChg chg="addSp delSp modSp mod">
        <pc:chgData name="Nnennaya Ihekwoaba" userId="09c9427f7bc7d59c" providerId="LiveId" clId="{69C1BD19-1D44-4A3F-A183-D0C385ECE59C}" dt="2026-10-03T17:18:33.028" v="424"/>
        <pc:sldMkLst>
          <pc:docMk/>
          <pc:sldMk cId="1455983391" sldId="287"/>
        </pc:sldMkLst>
        <pc:spChg chg="mod">
          <ac:chgData name="Nnennaya Ihekwoaba" userId="09c9427f7bc7d59c" providerId="LiveId" clId="{69C1BD19-1D44-4A3F-A183-D0C385ECE59C}" dt="2026-10-03T10:57:55.696" v="133" actId="113"/>
          <ac:spMkLst>
            <pc:docMk/>
            <pc:sldMk cId="1455983391" sldId="287"/>
            <ac:spMk id="7" creationId="{1E37771B-5A32-41E3-0764-A6E2D5A66DDD}"/>
          </ac:spMkLst>
        </pc:spChg>
        <pc:graphicFrameChg chg="add mod">
          <ac:chgData name="Nnennaya Ihekwoaba" userId="09c9427f7bc7d59c" providerId="LiveId" clId="{69C1BD19-1D44-4A3F-A183-D0C385ECE59C}" dt="2026-10-03T17:18:33.028" v="424"/>
          <ac:graphicFrameMkLst>
            <pc:docMk/>
            <pc:sldMk cId="1455983391" sldId="287"/>
            <ac:graphicFrameMk id="2" creationId="{F46CAE6F-896A-4545-BA8F-E8672646B668}"/>
          </ac:graphicFrameMkLst>
        </pc:graphicFrameChg>
        <pc:graphicFrameChg chg="del mod">
          <ac:chgData name="Nnennaya Ihekwoaba" userId="09c9427f7bc7d59c" providerId="LiveId" clId="{69C1BD19-1D44-4A3F-A183-D0C385ECE59C}" dt="2026-10-03T17:17:27.839" v="415" actId="478"/>
          <ac:graphicFrameMkLst>
            <pc:docMk/>
            <pc:sldMk cId="1455983391" sldId="287"/>
            <ac:graphicFrameMk id="10" creationId="{F46CAE6F-896A-4545-BA8F-E8672646B668}"/>
          </ac:graphicFrameMkLst>
        </pc:graphicFrameChg>
      </pc:sldChg>
      <pc:sldChg chg="modSp mod">
        <pc:chgData name="Nnennaya Ihekwoaba" userId="09c9427f7bc7d59c" providerId="LiveId" clId="{69C1BD19-1D44-4A3F-A183-D0C385ECE59C}" dt="2026-10-03T11:21:25.071" v="366" actId="20577"/>
        <pc:sldMkLst>
          <pc:docMk/>
          <pc:sldMk cId="3152301444" sldId="288"/>
        </pc:sldMkLst>
        <pc:spChg chg="mod">
          <ac:chgData name="Nnennaya Ihekwoaba" userId="09c9427f7bc7d59c" providerId="LiveId" clId="{69C1BD19-1D44-4A3F-A183-D0C385ECE59C}" dt="2026-10-03T11:21:25.071" v="366" actId="20577"/>
          <ac:spMkLst>
            <pc:docMk/>
            <pc:sldMk cId="3152301444" sldId="288"/>
            <ac:spMk id="6" creationId="{D4817F1F-F0B4-284F-FB9E-33EA336DBC8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inaol\Documents\Data%20Science%20materials%20-%2010Alytics\SQL%20for%20Data%20Analytics%20-%2010alytics\DermAI_Patient_Health_Tab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inaol\Documents\Data%20Science%20materials%20-%2010Alytics\SQL%20for%20Data%20Analytics%20-%2010alytics\DermAI_Patient_Health_Tabl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inaol\Documents\Data%20Science%20materials%20-%2010Alytics\SQL%20for%20Data%20Analytics%20-%2010alytics\DermAI_Patient_Health_Tabl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09c9427f7bc7d59c/Full%20Stack%20Data%20Science%20Practise/Projects/SQL%20Projects/DermAI_Patient_Health_Tab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inaol\Documents\Data%20Science%20materials%20-%2010Alytics\SQL%20for%20Data%20Analytics%20-%2010alytics\DermAI_Patient_Health_Table.xlsx" TargetMode="External"/><Relationship Id="rId2" Type="http://schemas.microsoft.com/office/2011/relationships/chartColorStyle" Target="colors7.xml"/><Relationship Id="rId1" Type="http://schemas.microsoft.com/office/2011/relationships/chartStyle" Target="style7.xml"/></Relationships>
</file>

<file path=ppt/charts/_rels/chart6.xml.rels><?xml version="1.0" encoding="UTF-8" standalone="yes"?>
<Relationships xmlns="http://schemas.openxmlformats.org/package/2006/relationships"><Relationship Id="rId3" Type="http://schemas.openxmlformats.org/officeDocument/2006/relationships/oleObject" Target="file:///C:\Users\inaol\Documents\Data%20Science%20materials%20-%2010Alytics\SQL%20for%20Data%20Analytics%20-%2010alytics\DermAI_Patient_Health_Table.xlsx" TargetMode="External"/><Relationship Id="rId2" Type="http://schemas.microsoft.com/office/2011/relationships/chartColorStyle" Target="colors8.xml"/><Relationship Id="rId1" Type="http://schemas.microsoft.com/office/2011/relationships/chartStyle" Target="style8.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09c9427f7bc7d59c/Full%20Stack%20Data%20Science%20Practise/Projects/SQL%20Projects/DermAI_Patient_Health_Table.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09c9427f7bc7d59c/Full%20Stack%20Data%20Science%20Practise/Projects/SQL%20Projects/DermAI_Patient_Health_Table.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09c9427f7bc7d59c/Full%20Stack%20Data%20Science%20Practise/Projects/SQL%20Projects/DermAI_Patient_Health_Table.xlsx"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09c9427f7bc7d59c/Full%20Stack%20Data%20Science%20Practise/Projects/SQL%20Projects/DermAI_Patient_Health_Table.xlsx" TargetMode="External"/><Relationship Id="rId2" Type="http://schemas.microsoft.com/office/2011/relationships/chartColorStyle" Target="colors12.xml"/><Relationship Id="rId1" Type="http://schemas.microsoft.com/office/2011/relationships/chartStyle" Target="style12.xml"/></Relationships>
</file>

<file path=ppt/charts/_rels/chartEx1.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d.docs.live.net/09c9427f7bc7d59c/Full%20Stack%20Data%20Science%20Practise/Projects/SQL%20Projects/DermAI_Patient_Health_Table.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inaol\Documents\Data%20Science%20materials%20-%2010Alytics\SQL%20for%20Data%20Analytics%20-%2010alytics\DermAI_Patient_Health_Tab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r>
              <a:rPr lang="en-GB" dirty="0"/>
              <a:t>Records of Lesion Diagnoses </a:t>
            </a:r>
          </a:p>
        </c:rich>
      </c:tx>
      <c:layout>
        <c:manualLayout>
          <c:xMode val="edge"/>
          <c:yMode val="edge"/>
          <c:x val="0.35307952531268189"/>
          <c:y val="2.9394882050142578E-2"/>
        </c:manualLayout>
      </c:layout>
      <c:overlay val="0"/>
      <c:spPr>
        <a:noFill/>
        <a:ln>
          <a:noFill/>
        </a:ln>
        <a:effectLst/>
      </c:spPr>
      <c:txPr>
        <a:bodyPr rot="0" spcFirstLastPara="1" vertOverflow="ellipsis" vert="horz" wrap="square" anchor="ctr" anchorCtr="1"/>
        <a:lstStyle/>
        <a:p>
          <a:pPr>
            <a:defRPr sz="144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3865070038089545"/>
          <c:y val="0.10708932172519552"/>
          <c:w val="0.63762448922596771"/>
          <c:h val="0.86249234091834925"/>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'SQL Query Results'!$B$14:$C$19</c:f>
              <c:multiLvlStrCache>
                <c:ptCount val="6"/>
                <c:lvl>
                  <c:pt idx="0">
                    <c:v>Melanoma</c:v>
                  </c:pt>
                  <c:pt idx="1">
                    <c:v>Squamous Cell Carcinoma</c:v>
                  </c:pt>
                  <c:pt idx="2">
                    <c:v>Seborrheic Keratosis</c:v>
                  </c:pt>
                  <c:pt idx="3">
                    <c:v>Nevus</c:v>
                  </c:pt>
                  <c:pt idx="4">
                    <c:v>Basal Cell Carcinoma</c:v>
                  </c:pt>
                  <c:pt idx="5">
                    <c:v>Actinic Keratosis</c:v>
                  </c:pt>
                </c:lvl>
                <c:lvl>
                  <c:pt idx="0">
                    <c:v>MEL</c:v>
                  </c:pt>
                  <c:pt idx="1">
                    <c:v>SCC</c:v>
                  </c:pt>
                  <c:pt idx="2">
                    <c:v>SEK</c:v>
                  </c:pt>
                  <c:pt idx="3">
                    <c:v>NEV</c:v>
                  </c:pt>
                  <c:pt idx="4">
                    <c:v>BCC</c:v>
                  </c:pt>
                  <c:pt idx="5">
                    <c:v>ACK</c:v>
                  </c:pt>
                </c:lvl>
              </c:multiLvlStrCache>
            </c:multiLvlStrRef>
          </c:cat>
          <c:val>
            <c:numRef>
              <c:f>'SQL Query Results'!$D$14:$D$19</c:f>
              <c:numCache>
                <c:formatCode>General</c:formatCode>
                <c:ptCount val="6"/>
                <c:pt idx="0">
                  <c:v>17</c:v>
                </c:pt>
                <c:pt idx="1">
                  <c:v>56</c:v>
                </c:pt>
                <c:pt idx="2">
                  <c:v>137</c:v>
                </c:pt>
                <c:pt idx="3">
                  <c:v>144</c:v>
                </c:pt>
                <c:pt idx="4">
                  <c:v>273</c:v>
                </c:pt>
                <c:pt idx="5">
                  <c:v>461</c:v>
                </c:pt>
              </c:numCache>
            </c:numRef>
          </c:val>
          <c:extLst>
            <c:ext xmlns:c16="http://schemas.microsoft.com/office/drawing/2014/chart" uri="{C3380CC4-5D6E-409C-BE32-E72D297353CC}">
              <c16:uniqueId val="{00000000-5713-4FF0-8AF5-BEA780BCB25E}"/>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'SQL Query Results'!$B$14:$C$19</c:f>
              <c:multiLvlStrCache>
                <c:ptCount val="6"/>
                <c:lvl>
                  <c:pt idx="0">
                    <c:v>Melanoma</c:v>
                  </c:pt>
                  <c:pt idx="1">
                    <c:v>Squamous Cell Carcinoma</c:v>
                  </c:pt>
                  <c:pt idx="2">
                    <c:v>Seborrheic Keratosis</c:v>
                  </c:pt>
                  <c:pt idx="3">
                    <c:v>Nevus</c:v>
                  </c:pt>
                  <c:pt idx="4">
                    <c:v>Basal Cell Carcinoma</c:v>
                  </c:pt>
                  <c:pt idx="5">
                    <c:v>Actinic Keratosis</c:v>
                  </c:pt>
                </c:lvl>
                <c:lvl>
                  <c:pt idx="0">
                    <c:v>MEL</c:v>
                  </c:pt>
                  <c:pt idx="1">
                    <c:v>SCC</c:v>
                  </c:pt>
                  <c:pt idx="2">
                    <c:v>SEK</c:v>
                  </c:pt>
                  <c:pt idx="3">
                    <c:v>NEV</c:v>
                  </c:pt>
                  <c:pt idx="4">
                    <c:v>BCC</c:v>
                  </c:pt>
                  <c:pt idx="5">
                    <c:v>ACK</c:v>
                  </c:pt>
                </c:lvl>
              </c:multiLvlStrCache>
            </c:multiLvlStrRef>
          </c:cat>
          <c:val>
            <c:numRef>
              <c:f>'SQL Query Results'!$E$14:$E$19</c:f>
              <c:numCache>
                <c:formatCode>0%</c:formatCode>
                <c:ptCount val="6"/>
                <c:pt idx="0">
                  <c:v>0.02</c:v>
                </c:pt>
                <c:pt idx="1">
                  <c:v>0.05</c:v>
                </c:pt>
                <c:pt idx="2">
                  <c:v>0.13</c:v>
                </c:pt>
                <c:pt idx="3">
                  <c:v>0.13</c:v>
                </c:pt>
                <c:pt idx="4">
                  <c:v>0.25</c:v>
                </c:pt>
                <c:pt idx="5">
                  <c:v>0.42</c:v>
                </c:pt>
              </c:numCache>
            </c:numRef>
          </c:val>
          <c:extLst>
            <c:ext xmlns:c16="http://schemas.microsoft.com/office/drawing/2014/chart" uri="{C3380CC4-5D6E-409C-BE32-E72D297353CC}">
              <c16:uniqueId val="{00000001-5713-4FF0-8AF5-BEA780BCB25E}"/>
            </c:ext>
          </c:extLst>
        </c:ser>
        <c:dLbls>
          <c:dLblPos val="outEnd"/>
          <c:showLegendKey val="0"/>
          <c:showVal val="1"/>
          <c:showCatName val="0"/>
          <c:showSerName val="0"/>
          <c:showPercent val="0"/>
          <c:showBubbleSize val="0"/>
        </c:dLbls>
        <c:gapWidth val="25"/>
        <c:overlap val="20"/>
        <c:axId val="1481507872"/>
        <c:axId val="149727472"/>
      </c:barChart>
      <c:catAx>
        <c:axId val="14815078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149727472"/>
        <c:crosses val="autoZero"/>
        <c:auto val="0"/>
        <c:lblAlgn val="ctr"/>
        <c:lblOffset val="100"/>
        <c:noMultiLvlLbl val="0"/>
      </c:catAx>
      <c:valAx>
        <c:axId val="149727472"/>
        <c:scaling>
          <c:orientation val="minMax"/>
        </c:scaling>
        <c:delete val="1"/>
        <c:axPos val="b"/>
        <c:numFmt formatCode="General" sourceLinked="1"/>
        <c:majorTickMark val="none"/>
        <c:minorTickMark val="none"/>
        <c:tickLblPos val="nextTo"/>
        <c:crossAx val="1481507872"/>
        <c:crosses val="autoZero"/>
        <c:crossBetween val="between"/>
      </c:valAx>
      <c:spPr>
        <a:noFill/>
        <a:ln>
          <a:noFill/>
        </a:ln>
        <a:effectLst/>
      </c:spPr>
    </c:plotArea>
    <c:plotVisOnly val="1"/>
    <c:dispBlanksAs val="gap"/>
    <c:showDLblsOverMax val="0"/>
  </c:chart>
  <c:spPr>
    <a:noFill/>
    <a:ln>
      <a:noFill/>
    </a:ln>
    <a:effectLst/>
  </c:spPr>
  <c:txPr>
    <a:bodyPr/>
    <a:lstStyle/>
    <a:p>
      <a:pPr>
        <a:defRPr sz="1200" b="1"/>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GB" sz="1400" dirty="0"/>
              <a:t>Lesion diagnoses: Male vs. Female</a:t>
            </a: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'SQL Query Results'!$H$13</c:f>
              <c:strCache>
                <c:ptCount val="1"/>
                <c:pt idx="0">
                  <c:v>persons</c:v>
                </c:pt>
              </c:strCache>
            </c:strRef>
          </c:tx>
          <c:explosion val="3"/>
          <c:dPt>
            <c:idx val="0"/>
            <c:bubble3D val="0"/>
            <c:spPr>
              <a:solidFill>
                <a:schemeClr val="accent6"/>
              </a:solidFill>
              <a:ln w="19050">
                <a:solidFill>
                  <a:schemeClr val="lt1"/>
                </a:solidFill>
              </a:ln>
              <a:effectLst/>
            </c:spPr>
            <c:extLst>
              <c:ext xmlns:c16="http://schemas.microsoft.com/office/drawing/2014/chart" uri="{C3380CC4-5D6E-409C-BE32-E72D297353CC}">
                <c16:uniqueId val="{00000001-04A4-4ECF-9968-FCD5725A0E02}"/>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04A4-4ECF-9968-FCD5725A0E02}"/>
              </c:ext>
            </c:extLst>
          </c:dPt>
          <c:dLbls>
            <c:dLbl>
              <c:idx val="0"/>
              <c:layout>
                <c:manualLayout>
                  <c:x val="9.9551026549973096E-2"/>
                  <c:y val="-0.12282864474102201"/>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4A4-4ECF-9968-FCD5725A0E02}"/>
                </c:ext>
              </c:extLst>
            </c:dLbl>
            <c:dLbl>
              <c:idx val="1"/>
              <c:layout>
                <c:manualLayout>
                  <c:x val="-0.14577114601960367"/>
                  <c:y val="-4.724178643885462E-2"/>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4A4-4ECF-9968-FCD5725A0E02}"/>
                </c:ext>
              </c:extLst>
            </c:dLbl>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'SQL Query Results'!$G$14:$G$15</c:f>
              <c:strCache>
                <c:ptCount val="2"/>
                <c:pt idx="0">
                  <c:v>Female</c:v>
                </c:pt>
                <c:pt idx="1">
                  <c:v>Male</c:v>
                </c:pt>
              </c:strCache>
            </c:strRef>
          </c:cat>
          <c:val>
            <c:numRef>
              <c:f>'SQL Query Results'!$H$14:$H$15</c:f>
              <c:numCache>
                <c:formatCode>General</c:formatCode>
                <c:ptCount val="2"/>
                <c:pt idx="0">
                  <c:v>362</c:v>
                </c:pt>
                <c:pt idx="1">
                  <c:v>726</c:v>
                </c:pt>
              </c:numCache>
            </c:numRef>
          </c:val>
          <c:extLst>
            <c:ext xmlns:c16="http://schemas.microsoft.com/office/drawing/2014/chart" uri="{C3380CC4-5D6E-409C-BE32-E72D297353CC}">
              <c16:uniqueId val="{00000004-04A4-4ECF-9968-FCD5725A0E0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dirty="0"/>
              <a:t>Lesions across body regions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Results'!$I$53:$I$66</c:f>
              <c:strCache>
                <c:ptCount val="14"/>
                <c:pt idx="0">
                  <c:v>Foot</c:v>
                </c:pt>
                <c:pt idx="1">
                  <c:v>Lip</c:v>
                </c:pt>
                <c:pt idx="2">
                  <c:v>Scalp</c:v>
                </c:pt>
                <c:pt idx="3">
                  <c:v>Abdomen</c:v>
                </c:pt>
                <c:pt idx="4">
                  <c:v>Ear</c:v>
                </c:pt>
                <c:pt idx="5">
                  <c:v>Thigh</c:v>
                </c:pt>
                <c:pt idx="6">
                  <c:v>Neck</c:v>
                </c:pt>
                <c:pt idx="7">
                  <c:v>Hand</c:v>
                </c:pt>
                <c:pt idx="8">
                  <c:v>Nose</c:v>
                </c:pt>
                <c:pt idx="9">
                  <c:v>Arm</c:v>
                </c:pt>
                <c:pt idx="10">
                  <c:v>Back</c:v>
                </c:pt>
                <c:pt idx="11">
                  <c:v>Chest</c:v>
                </c:pt>
                <c:pt idx="12">
                  <c:v>Forearm</c:v>
                </c:pt>
                <c:pt idx="13">
                  <c:v>Face</c:v>
                </c:pt>
              </c:strCache>
            </c:strRef>
          </c:cat>
          <c:val>
            <c:numRef>
              <c:f>'SQL Query Results'!$J$53:$J$66</c:f>
              <c:numCache>
                <c:formatCode>General</c:formatCode>
                <c:ptCount val="14"/>
                <c:pt idx="0">
                  <c:v>5</c:v>
                </c:pt>
                <c:pt idx="1">
                  <c:v>7</c:v>
                </c:pt>
                <c:pt idx="2">
                  <c:v>11</c:v>
                </c:pt>
                <c:pt idx="3">
                  <c:v>20</c:v>
                </c:pt>
                <c:pt idx="4">
                  <c:v>32</c:v>
                </c:pt>
                <c:pt idx="5">
                  <c:v>35</c:v>
                </c:pt>
                <c:pt idx="6">
                  <c:v>37</c:v>
                </c:pt>
                <c:pt idx="7">
                  <c:v>55</c:v>
                </c:pt>
                <c:pt idx="8">
                  <c:v>68</c:v>
                </c:pt>
                <c:pt idx="9">
                  <c:v>92</c:v>
                </c:pt>
                <c:pt idx="10">
                  <c:v>105</c:v>
                </c:pt>
                <c:pt idx="11">
                  <c:v>124</c:v>
                </c:pt>
                <c:pt idx="12">
                  <c:v>219</c:v>
                </c:pt>
                <c:pt idx="13">
                  <c:v>278</c:v>
                </c:pt>
              </c:numCache>
            </c:numRef>
          </c:val>
          <c:extLst>
            <c:ext xmlns:c16="http://schemas.microsoft.com/office/drawing/2014/chart" uri="{C3380CC4-5D6E-409C-BE32-E72D297353CC}">
              <c16:uniqueId val="{00000000-58D2-4D03-9847-599534D41F66}"/>
            </c:ext>
          </c:extLst>
        </c:ser>
        <c:dLbls>
          <c:dLblPos val="outEnd"/>
          <c:showLegendKey val="0"/>
          <c:showVal val="1"/>
          <c:showCatName val="0"/>
          <c:showSerName val="0"/>
          <c:showPercent val="0"/>
          <c:showBubbleSize val="0"/>
        </c:dLbls>
        <c:gapWidth val="50"/>
        <c:axId val="2055167359"/>
        <c:axId val="2057078735"/>
      </c:barChart>
      <c:catAx>
        <c:axId val="20551673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2057078735"/>
        <c:crosses val="autoZero"/>
        <c:auto val="1"/>
        <c:lblAlgn val="ctr"/>
        <c:lblOffset val="100"/>
        <c:noMultiLvlLbl val="0"/>
      </c:catAx>
      <c:valAx>
        <c:axId val="205707873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51673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[DermAI_Patient_Health_Table.xlsx]SQL Query Results!PivotTable3</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dirty="0"/>
              <a:t>Fitzpatrick</a:t>
            </a:r>
            <a:r>
              <a:rPr lang="en-US" sz="1600" b="1" baseline="0" dirty="0"/>
              <a:t> Skin Type Vs Diagnoses</a:t>
            </a:r>
            <a:endParaRPr lang="en-US" sz="1600" b="1" dirty="0"/>
          </a:p>
        </c:rich>
      </c:tx>
      <c:layout>
        <c:manualLayout>
          <c:xMode val="edge"/>
          <c:yMode val="edge"/>
          <c:x val="0.31899546944473312"/>
          <c:y val="3.8480572865641188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
          <c:y val="3.4067542401126805E-2"/>
          <c:w val="0.94246649168853891"/>
          <c:h val="0.7966132168701584"/>
        </c:manualLayout>
      </c:layout>
      <c:lineChart>
        <c:grouping val="standard"/>
        <c:varyColors val="0"/>
        <c:ser>
          <c:idx val="0"/>
          <c:order val="0"/>
          <c:tx>
            <c:strRef>
              <c:f>'SQL Query Results'!$G$127</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Results'!$F$128:$F$135</c:f>
              <c:strCache>
                <c:ptCount val="7"/>
                <c:pt idx="0">
                  <c:v>0</c:v>
                </c:pt>
                <c:pt idx="1">
                  <c:v>1</c:v>
                </c:pt>
                <c:pt idx="2">
                  <c:v>2</c:v>
                </c:pt>
                <c:pt idx="3">
                  <c:v>3</c:v>
                </c:pt>
                <c:pt idx="4">
                  <c:v>4</c:v>
                </c:pt>
                <c:pt idx="5">
                  <c:v>5</c:v>
                </c:pt>
                <c:pt idx="6">
                  <c:v>6</c:v>
                </c:pt>
              </c:strCache>
            </c:strRef>
          </c:cat>
          <c:val>
            <c:numRef>
              <c:f>'SQL Query Results'!$G$128:$G$135</c:f>
              <c:numCache>
                <c:formatCode>General</c:formatCode>
                <c:ptCount val="7"/>
                <c:pt idx="0">
                  <c:v>579</c:v>
                </c:pt>
                <c:pt idx="1">
                  <c:v>46</c:v>
                </c:pt>
                <c:pt idx="2">
                  <c:v>285</c:v>
                </c:pt>
                <c:pt idx="3">
                  <c:v>142</c:v>
                </c:pt>
                <c:pt idx="4">
                  <c:v>28</c:v>
                </c:pt>
                <c:pt idx="5">
                  <c:v>7</c:v>
                </c:pt>
                <c:pt idx="6">
                  <c:v>1</c:v>
                </c:pt>
              </c:numCache>
            </c:numRef>
          </c:val>
          <c:smooth val="0"/>
          <c:extLst>
            <c:ext xmlns:c16="http://schemas.microsoft.com/office/drawing/2014/chart" uri="{C3380CC4-5D6E-409C-BE32-E72D297353CC}">
              <c16:uniqueId val="{00000000-5384-43F0-BDEC-550292866BE6}"/>
            </c:ext>
          </c:extLst>
        </c:ser>
        <c:dLbls>
          <c:dLblPos val="t"/>
          <c:showLegendKey val="0"/>
          <c:showVal val="1"/>
          <c:showCatName val="0"/>
          <c:showSerName val="0"/>
          <c:showPercent val="0"/>
          <c:showBubbleSize val="0"/>
        </c:dLbls>
        <c:dropLines>
          <c:spPr>
            <a:ln w="9525" cap="flat" cmpd="sng" algn="ctr">
              <a:solidFill>
                <a:schemeClr val="tx1">
                  <a:lumMod val="35000"/>
                  <a:lumOff val="65000"/>
                </a:schemeClr>
              </a:solidFill>
              <a:round/>
            </a:ln>
            <a:effectLst/>
          </c:spPr>
        </c:dropLines>
        <c:smooth val="0"/>
        <c:axId val="173232368"/>
        <c:axId val="1352743087"/>
      </c:lineChart>
      <c:catAx>
        <c:axId val="173232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352743087"/>
        <c:crosses val="autoZero"/>
        <c:auto val="1"/>
        <c:lblAlgn val="ctr"/>
        <c:lblOffset val="100"/>
        <c:noMultiLvlLbl val="0"/>
      </c:catAx>
      <c:valAx>
        <c:axId val="1352743087"/>
        <c:scaling>
          <c:orientation val="minMax"/>
        </c:scaling>
        <c:delete val="1"/>
        <c:axPos val="l"/>
        <c:numFmt formatCode="General" sourceLinked="1"/>
        <c:majorTickMark val="none"/>
        <c:minorTickMark val="none"/>
        <c:tickLblPos val="nextTo"/>
        <c:crossAx val="17323236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[DermAI_Patient_Health_Table.xlsx]SQL Query Results!PivotTable11</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0710964774957663E-2"/>
          <c:y val="2.99758360182202E-3"/>
          <c:w val="0.93582691354077185"/>
          <c:h val="0.9205733413133308"/>
        </c:manualLayout>
      </c:layout>
      <c:barChart>
        <c:barDir val="col"/>
        <c:grouping val="clustered"/>
        <c:varyColors val="0"/>
        <c:ser>
          <c:idx val="0"/>
          <c:order val="0"/>
          <c:tx>
            <c:strRef>
              <c:f>'SQL Query Results'!$C$50</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Results'!$B$51:$B$56</c:f>
              <c:strCache>
                <c:ptCount val="5"/>
                <c:pt idx="0">
                  <c:v>(20 - 40)</c:v>
                </c:pt>
                <c:pt idx="1">
                  <c:v>(41 - 60)</c:v>
                </c:pt>
                <c:pt idx="2">
                  <c:v>(61 - 80)</c:v>
                </c:pt>
                <c:pt idx="3">
                  <c:v>(81 - 100)</c:v>
                </c:pt>
                <c:pt idx="4">
                  <c:v>Under 20</c:v>
                </c:pt>
              </c:strCache>
            </c:strRef>
          </c:cat>
          <c:val>
            <c:numRef>
              <c:f>'SQL Query Results'!$C$51:$C$56</c:f>
              <c:numCache>
                <c:formatCode>General</c:formatCode>
                <c:ptCount val="5"/>
                <c:pt idx="0">
                  <c:v>137</c:v>
                </c:pt>
                <c:pt idx="1">
                  <c:v>405</c:v>
                </c:pt>
                <c:pt idx="2">
                  <c:v>448</c:v>
                </c:pt>
                <c:pt idx="3">
                  <c:v>78</c:v>
                </c:pt>
                <c:pt idx="4">
                  <c:v>20</c:v>
                </c:pt>
              </c:numCache>
            </c:numRef>
          </c:val>
          <c:extLst>
            <c:ext xmlns:c16="http://schemas.microsoft.com/office/drawing/2014/chart" uri="{C3380CC4-5D6E-409C-BE32-E72D297353CC}">
              <c16:uniqueId val="{00000000-94E3-4D3E-B020-5152F3C977AB}"/>
            </c:ext>
          </c:extLst>
        </c:ser>
        <c:dLbls>
          <c:showLegendKey val="0"/>
          <c:showVal val="0"/>
          <c:showCatName val="0"/>
          <c:showSerName val="0"/>
          <c:showPercent val="0"/>
          <c:showBubbleSize val="0"/>
        </c:dLbls>
        <c:gapWidth val="219"/>
        <c:overlap val="-27"/>
        <c:axId val="854961984"/>
        <c:axId val="896064144"/>
      </c:barChart>
      <c:catAx>
        <c:axId val="854961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896064144"/>
        <c:crosses val="autoZero"/>
        <c:auto val="1"/>
        <c:lblAlgn val="ctr"/>
        <c:lblOffset val="100"/>
        <c:noMultiLvlLbl val="0"/>
      </c:catAx>
      <c:valAx>
        <c:axId val="896064144"/>
        <c:scaling>
          <c:orientation val="minMax"/>
        </c:scaling>
        <c:delete val="1"/>
        <c:axPos val="l"/>
        <c:numFmt formatCode="General" sourceLinked="1"/>
        <c:majorTickMark val="none"/>
        <c:minorTickMark val="none"/>
        <c:tickLblPos val="nextTo"/>
        <c:crossAx val="8549619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GB" sz="1600" dirty="0"/>
              <a:t>Lesion diagnosis:</a:t>
            </a:r>
            <a:r>
              <a:rPr lang="en-GB" sz="1600" baseline="0" dirty="0"/>
              <a:t> average skin cancer history vs. average cancer history</a:t>
            </a:r>
            <a:endParaRPr lang="en-GB" sz="1600" dirty="0"/>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7.2571018186187927E-2"/>
          <c:y val="0.11796906825167576"/>
          <c:w val="0.90763242859636906"/>
          <c:h val="0.72651094322853016"/>
        </c:manualLayout>
      </c:layout>
      <c:barChart>
        <c:barDir val="col"/>
        <c:grouping val="clustered"/>
        <c:varyColors val="0"/>
        <c:ser>
          <c:idx val="0"/>
          <c:order val="0"/>
          <c:tx>
            <c:strRef>
              <c:f>'SQL Query Results'!$H$75</c:f>
              <c:strCache>
                <c:ptCount val="1"/>
                <c:pt idx="0">
                  <c:v>avg_skin_cancer_history</c:v>
                </c:pt>
              </c:strCache>
            </c:strRef>
          </c:tx>
          <c:spPr>
            <a:solidFill>
              <a:schemeClr val="accent1"/>
            </a:solidFill>
            <a:ln>
              <a:solidFill>
                <a:schemeClr val="accent6">
                  <a:lumMod val="60000"/>
                  <a:lumOff val="40000"/>
                </a:schemeClr>
              </a:solid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Results'!$G$76:$G$81</c:f>
              <c:strCache>
                <c:ptCount val="6"/>
                <c:pt idx="0">
                  <c:v>MEL</c:v>
                </c:pt>
                <c:pt idx="1">
                  <c:v>SCC</c:v>
                </c:pt>
                <c:pt idx="2">
                  <c:v>ACK</c:v>
                </c:pt>
                <c:pt idx="3">
                  <c:v>BCC</c:v>
                </c:pt>
                <c:pt idx="4">
                  <c:v>SEK</c:v>
                </c:pt>
                <c:pt idx="5">
                  <c:v>NEV</c:v>
                </c:pt>
              </c:strCache>
            </c:strRef>
          </c:cat>
          <c:val>
            <c:numRef>
              <c:f>'SQL Query Results'!$H$76:$H$81</c:f>
              <c:numCache>
                <c:formatCode>0%</c:formatCode>
                <c:ptCount val="6"/>
                <c:pt idx="0">
                  <c:v>0.35</c:v>
                </c:pt>
                <c:pt idx="1">
                  <c:v>0.41</c:v>
                </c:pt>
                <c:pt idx="2">
                  <c:v>0.12</c:v>
                </c:pt>
                <c:pt idx="3">
                  <c:v>0.47</c:v>
                </c:pt>
                <c:pt idx="4">
                  <c:v>0.04</c:v>
                </c:pt>
                <c:pt idx="5">
                  <c:v>0.05</c:v>
                </c:pt>
              </c:numCache>
            </c:numRef>
          </c:val>
          <c:extLst>
            <c:ext xmlns:c16="http://schemas.microsoft.com/office/drawing/2014/chart" uri="{C3380CC4-5D6E-409C-BE32-E72D297353CC}">
              <c16:uniqueId val="{00000000-8940-421B-9CA2-B67EEDEBF564}"/>
            </c:ext>
          </c:extLst>
        </c:ser>
        <c:ser>
          <c:idx val="1"/>
          <c:order val="1"/>
          <c:tx>
            <c:strRef>
              <c:f>'SQL Query Results'!$I$75</c:f>
              <c:strCache>
                <c:ptCount val="1"/>
                <c:pt idx="0">
                  <c:v>avg_cancer_history</c:v>
                </c:pt>
              </c:strCache>
            </c:strRef>
          </c:tx>
          <c:spPr>
            <a:solidFill>
              <a:schemeClr val="accent6">
                <a:lumMod val="50000"/>
              </a:schemeClr>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Results'!$G$76:$G$81</c:f>
              <c:strCache>
                <c:ptCount val="6"/>
                <c:pt idx="0">
                  <c:v>MEL</c:v>
                </c:pt>
                <c:pt idx="1">
                  <c:v>SCC</c:v>
                </c:pt>
                <c:pt idx="2">
                  <c:v>ACK</c:v>
                </c:pt>
                <c:pt idx="3">
                  <c:v>BCC</c:v>
                </c:pt>
                <c:pt idx="4">
                  <c:v>SEK</c:v>
                </c:pt>
                <c:pt idx="5">
                  <c:v>NEV</c:v>
                </c:pt>
              </c:strCache>
            </c:strRef>
          </c:cat>
          <c:val>
            <c:numRef>
              <c:f>'SQL Query Results'!$I$76:$I$81</c:f>
              <c:numCache>
                <c:formatCode>0%</c:formatCode>
                <c:ptCount val="6"/>
                <c:pt idx="0">
                  <c:v>0.53</c:v>
                </c:pt>
                <c:pt idx="1">
                  <c:v>0.55000000000000004</c:v>
                </c:pt>
                <c:pt idx="2">
                  <c:v>0.15</c:v>
                </c:pt>
                <c:pt idx="3">
                  <c:v>0.54</c:v>
                </c:pt>
                <c:pt idx="4">
                  <c:v>0.06</c:v>
                </c:pt>
                <c:pt idx="5">
                  <c:v>7.0000000000000007E-2</c:v>
                </c:pt>
              </c:numCache>
            </c:numRef>
          </c:val>
          <c:extLst>
            <c:ext xmlns:c16="http://schemas.microsoft.com/office/drawing/2014/chart" uri="{C3380CC4-5D6E-409C-BE32-E72D297353CC}">
              <c16:uniqueId val="{00000001-8940-421B-9CA2-B67EEDEBF564}"/>
            </c:ext>
          </c:extLst>
        </c:ser>
        <c:dLbls>
          <c:dLblPos val="outEnd"/>
          <c:showLegendKey val="0"/>
          <c:showVal val="1"/>
          <c:showCatName val="0"/>
          <c:showSerName val="0"/>
          <c:showPercent val="0"/>
          <c:showBubbleSize val="0"/>
        </c:dLbls>
        <c:gapWidth val="219"/>
        <c:overlap val="-27"/>
        <c:axId val="1771035775"/>
        <c:axId val="2057137775"/>
      </c:barChart>
      <c:catAx>
        <c:axId val="17710357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2057137775"/>
        <c:crosses val="autoZero"/>
        <c:auto val="1"/>
        <c:lblAlgn val="ctr"/>
        <c:lblOffset val="100"/>
        <c:noMultiLvlLbl val="0"/>
      </c:catAx>
      <c:valAx>
        <c:axId val="2057137775"/>
        <c:scaling>
          <c:orientation val="minMax"/>
        </c:scaling>
        <c:delete val="1"/>
        <c:axPos val="l"/>
        <c:numFmt formatCode="0%" sourceLinked="1"/>
        <c:majorTickMark val="none"/>
        <c:minorTickMark val="none"/>
        <c:tickLblPos val="nextTo"/>
        <c:crossAx val="17710357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1"/>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a:t>Impact</a:t>
            </a:r>
            <a:r>
              <a:rPr lang="en-US" sz="2000" b="1" baseline="0"/>
              <a:t> of Smoking/Drinking</a:t>
            </a:r>
            <a:endParaRPr lang="en-US" sz="2000" b="1"/>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'SQL Query Results'!$I$26</c:f>
              <c:strCache>
                <c:ptCount val="1"/>
                <c:pt idx="0">
                  <c:v>persons</c:v>
                </c:pt>
              </c:strCache>
            </c:strRef>
          </c:tx>
          <c:spPr>
            <a:solidFill>
              <a:schemeClr val="accent1"/>
            </a:solidFill>
            <a:ln>
              <a:noFill/>
            </a:ln>
            <a:effectLst/>
          </c:spPr>
          <c:invertIfNegative val="0"/>
          <c:cat>
            <c:strRef>
              <c:f>'SQL Query Results'!$F$27:$F$30</c:f>
              <c:strCache>
                <c:ptCount val="4"/>
                <c:pt idx="0">
                  <c:v>None</c:v>
                </c:pt>
                <c:pt idx="1">
                  <c:v>Drinks</c:v>
                </c:pt>
                <c:pt idx="2">
                  <c:v>Smokes</c:v>
                </c:pt>
                <c:pt idx="3">
                  <c:v>Both</c:v>
                </c:pt>
              </c:strCache>
            </c:strRef>
          </c:cat>
          <c:val>
            <c:numRef>
              <c:f>'SQL Query Results'!$I$27:$I$30</c:f>
              <c:numCache>
                <c:formatCode>General</c:formatCode>
                <c:ptCount val="4"/>
                <c:pt idx="0">
                  <c:v>916</c:v>
                </c:pt>
                <c:pt idx="1">
                  <c:v>110</c:v>
                </c:pt>
                <c:pt idx="2">
                  <c:v>34</c:v>
                </c:pt>
                <c:pt idx="3">
                  <c:v>28</c:v>
                </c:pt>
              </c:numCache>
            </c:numRef>
          </c:val>
          <c:extLst>
            <c:ext xmlns:c16="http://schemas.microsoft.com/office/drawing/2014/chart" uri="{C3380CC4-5D6E-409C-BE32-E72D297353CC}">
              <c16:uniqueId val="{00000000-9396-436F-BBF1-0A05F8CAAE7E}"/>
            </c:ext>
          </c:extLst>
        </c:ser>
        <c:dLbls>
          <c:showLegendKey val="0"/>
          <c:showVal val="0"/>
          <c:showCatName val="0"/>
          <c:showSerName val="0"/>
          <c:showPercent val="0"/>
          <c:showBubbleSize val="0"/>
        </c:dLbls>
        <c:gapWidth val="219"/>
        <c:overlap val="-27"/>
        <c:axId val="903038015"/>
        <c:axId val="591420271"/>
      </c:barChart>
      <c:catAx>
        <c:axId val="903038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crossAx val="591420271"/>
        <c:crosses val="autoZero"/>
        <c:auto val="1"/>
        <c:lblAlgn val="ctr"/>
        <c:lblOffset val="100"/>
        <c:noMultiLvlLbl val="0"/>
      </c:catAx>
      <c:valAx>
        <c:axId val="591420271"/>
        <c:scaling>
          <c:orientation val="minMax"/>
        </c:scaling>
        <c:delete val="1"/>
        <c:axPos val="l"/>
        <c:numFmt formatCode="General" sourceLinked="1"/>
        <c:majorTickMark val="none"/>
        <c:minorTickMark val="none"/>
        <c:tickLblPos val="nextTo"/>
        <c:crossAx val="9030380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GB" sz="1600" b="1">
                <a:solidFill>
                  <a:schemeClr val="tx1"/>
                </a:solidFill>
              </a:rPr>
              <a:t>Environmental</a:t>
            </a:r>
            <a:r>
              <a:rPr lang="en-GB" sz="1600" b="1" baseline="0">
                <a:solidFill>
                  <a:schemeClr val="tx1"/>
                </a:solidFill>
              </a:rPr>
              <a:t> factors VS Diagnostic</a:t>
            </a:r>
            <a:endParaRPr lang="en-GB" sz="1600" b="1">
              <a:solidFill>
                <a:schemeClr val="tx1"/>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manualLayout>
          <c:layoutTarget val="inner"/>
          <c:xMode val="edge"/>
          <c:yMode val="edge"/>
          <c:x val="5.3892052933734676E-2"/>
          <c:y val="0.17634259259259263"/>
          <c:w val="0.91833029788728648"/>
          <c:h val="0.5921323003073814"/>
        </c:manualLayout>
      </c:layout>
      <c:barChart>
        <c:barDir val="col"/>
        <c:grouping val="clustered"/>
        <c:varyColors val="0"/>
        <c:ser>
          <c:idx val="1"/>
          <c:order val="1"/>
          <c:tx>
            <c:strRef>
              <c:f>'SQL Query Results'!$H$142</c:f>
              <c:strCache>
                <c:ptCount val="1"/>
                <c:pt idx="0">
                  <c:v>No Piped_water</c:v>
                </c:pt>
              </c:strCache>
            </c:strRef>
          </c:tx>
          <c:spPr>
            <a:solidFill>
              <a:schemeClr val="tx2">
                <a:lumMod val="90000"/>
                <a:lumOff val="1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'SQL Query Results'!$F$143:$F$148</c:f>
              <c:strCache>
                <c:ptCount val="6"/>
                <c:pt idx="0">
                  <c:v>SEK</c:v>
                </c:pt>
                <c:pt idx="1">
                  <c:v>NEV</c:v>
                </c:pt>
                <c:pt idx="2">
                  <c:v>ACK</c:v>
                </c:pt>
                <c:pt idx="3">
                  <c:v>MEL</c:v>
                </c:pt>
                <c:pt idx="4">
                  <c:v>BCC</c:v>
                </c:pt>
                <c:pt idx="5">
                  <c:v>SCC</c:v>
                </c:pt>
              </c:strCache>
            </c:strRef>
          </c:cat>
          <c:val>
            <c:numRef>
              <c:f>'SQL Query Results'!$H$143:$H$148</c:f>
              <c:numCache>
                <c:formatCode>0%</c:formatCode>
                <c:ptCount val="6"/>
                <c:pt idx="0">
                  <c:v>0.93</c:v>
                </c:pt>
                <c:pt idx="1">
                  <c:v>0.92</c:v>
                </c:pt>
                <c:pt idx="2">
                  <c:v>0.8</c:v>
                </c:pt>
                <c:pt idx="3">
                  <c:v>0.47</c:v>
                </c:pt>
                <c:pt idx="4">
                  <c:v>0.45</c:v>
                </c:pt>
                <c:pt idx="5">
                  <c:v>0.36</c:v>
                </c:pt>
              </c:numCache>
            </c:numRef>
          </c:val>
          <c:extLst>
            <c:ext xmlns:c16="http://schemas.microsoft.com/office/drawing/2014/chart" uri="{C3380CC4-5D6E-409C-BE32-E72D297353CC}">
              <c16:uniqueId val="{00000000-9D68-4F87-93E0-DCF676D201D0}"/>
            </c:ext>
          </c:extLst>
        </c:ser>
        <c:ser>
          <c:idx val="2"/>
          <c:order val="2"/>
          <c:tx>
            <c:strRef>
              <c:f>'SQL Query Results'!$I$142</c:f>
              <c:strCache>
                <c:ptCount val="1"/>
                <c:pt idx="0">
                  <c:v>No Sewage_system</c:v>
                </c:pt>
              </c:strCache>
            </c:strRef>
          </c:tx>
          <c:spPr>
            <a:solidFill>
              <a:schemeClr val="accent1">
                <a:lumMod val="40000"/>
                <a:lumOff val="60000"/>
              </a:schemeClr>
            </a:solidFill>
            <a:ln>
              <a:noFill/>
            </a:ln>
            <a:effectLst/>
          </c:spPr>
          <c:invertIfNegative val="0"/>
          <c:cat>
            <c:strRef>
              <c:f>'SQL Query Results'!$F$143:$F$148</c:f>
              <c:strCache>
                <c:ptCount val="6"/>
                <c:pt idx="0">
                  <c:v>SEK</c:v>
                </c:pt>
                <c:pt idx="1">
                  <c:v>NEV</c:v>
                </c:pt>
                <c:pt idx="2">
                  <c:v>ACK</c:v>
                </c:pt>
                <c:pt idx="3">
                  <c:v>MEL</c:v>
                </c:pt>
                <c:pt idx="4">
                  <c:v>BCC</c:v>
                </c:pt>
                <c:pt idx="5">
                  <c:v>SCC</c:v>
                </c:pt>
              </c:strCache>
            </c:strRef>
          </c:cat>
          <c:val>
            <c:numRef>
              <c:f>'SQL Query Results'!$I$143:$I$148</c:f>
              <c:numCache>
                <c:formatCode>0%</c:formatCode>
                <c:ptCount val="6"/>
                <c:pt idx="0">
                  <c:v>0.93</c:v>
                </c:pt>
                <c:pt idx="1">
                  <c:v>0.93</c:v>
                </c:pt>
                <c:pt idx="2">
                  <c:v>0.82</c:v>
                </c:pt>
                <c:pt idx="3">
                  <c:v>0.47</c:v>
                </c:pt>
                <c:pt idx="4">
                  <c:v>0.53</c:v>
                </c:pt>
                <c:pt idx="5">
                  <c:v>0.38</c:v>
                </c:pt>
              </c:numCache>
            </c:numRef>
          </c:val>
          <c:extLst>
            <c:ext xmlns:c16="http://schemas.microsoft.com/office/drawing/2014/chart" uri="{C3380CC4-5D6E-409C-BE32-E72D297353CC}">
              <c16:uniqueId val="{00000001-9D68-4F87-93E0-DCF676D201D0}"/>
            </c:ext>
          </c:extLst>
        </c:ser>
        <c:dLbls>
          <c:showLegendKey val="0"/>
          <c:showVal val="0"/>
          <c:showCatName val="0"/>
          <c:showSerName val="0"/>
          <c:showPercent val="0"/>
          <c:showBubbleSize val="0"/>
        </c:dLbls>
        <c:gapWidth val="219"/>
        <c:axId val="26691935"/>
        <c:axId val="1277420336"/>
      </c:barChart>
      <c:lineChart>
        <c:grouping val="stacked"/>
        <c:varyColors val="0"/>
        <c:ser>
          <c:idx val="0"/>
          <c:order val="0"/>
          <c:tx>
            <c:strRef>
              <c:f>'SQL Query Results'!$G$142</c:f>
              <c:strCache>
                <c:ptCount val="1"/>
                <c:pt idx="0">
                  <c:v>Pesticide_exposure</c:v>
                </c:pt>
              </c:strCache>
            </c:strRef>
          </c:tx>
          <c:spPr>
            <a:ln w="28575" cap="rnd">
              <a:solidFill>
                <a:schemeClr val="accent1"/>
              </a:solidFill>
              <a:round/>
            </a:ln>
            <a:effectLst/>
          </c:spPr>
          <c:marker>
            <c:symbol val="circle"/>
            <c:size val="5"/>
            <c:spPr>
              <a:solidFill>
                <a:srgbClr val="FF0000"/>
              </a:solidFill>
              <a:ln w="9525">
                <a:solidFill>
                  <a:schemeClr val="accent1"/>
                </a:solidFill>
              </a:ln>
              <a:effectLst/>
            </c:spPr>
          </c:marker>
          <c:cat>
            <c:strRef>
              <c:f>'SQL Query Results'!$F$143:$F$148</c:f>
              <c:strCache>
                <c:ptCount val="6"/>
                <c:pt idx="0">
                  <c:v>SEK</c:v>
                </c:pt>
                <c:pt idx="1">
                  <c:v>NEV</c:v>
                </c:pt>
                <c:pt idx="2">
                  <c:v>ACK</c:v>
                </c:pt>
                <c:pt idx="3">
                  <c:v>MEL</c:v>
                </c:pt>
                <c:pt idx="4">
                  <c:v>BCC</c:v>
                </c:pt>
                <c:pt idx="5">
                  <c:v>SCC</c:v>
                </c:pt>
              </c:strCache>
            </c:strRef>
          </c:cat>
          <c:val>
            <c:numRef>
              <c:f>'SQL Query Results'!$G$143:$G$148</c:f>
              <c:numCache>
                <c:formatCode>0%</c:formatCode>
                <c:ptCount val="6"/>
                <c:pt idx="0">
                  <c:v>0.01</c:v>
                </c:pt>
                <c:pt idx="1">
                  <c:v>0.02</c:v>
                </c:pt>
                <c:pt idx="2">
                  <c:v>0.13</c:v>
                </c:pt>
                <c:pt idx="3">
                  <c:v>0.41</c:v>
                </c:pt>
                <c:pt idx="4">
                  <c:v>0.47</c:v>
                </c:pt>
                <c:pt idx="5">
                  <c:v>0.39</c:v>
                </c:pt>
              </c:numCache>
            </c:numRef>
          </c:val>
          <c:smooth val="0"/>
          <c:extLst>
            <c:ext xmlns:c16="http://schemas.microsoft.com/office/drawing/2014/chart" uri="{C3380CC4-5D6E-409C-BE32-E72D297353CC}">
              <c16:uniqueId val="{00000002-9D68-4F87-93E0-DCF676D201D0}"/>
            </c:ext>
          </c:extLst>
        </c:ser>
        <c:dLbls>
          <c:showLegendKey val="0"/>
          <c:showVal val="0"/>
          <c:showCatName val="0"/>
          <c:showSerName val="0"/>
          <c:showPercent val="0"/>
          <c:showBubbleSize val="0"/>
        </c:dLbls>
        <c:marker val="1"/>
        <c:smooth val="0"/>
        <c:axId val="26691935"/>
        <c:axId val="1277420336"/>
      </c:lineChart>
      <c:catAx>
        <c:axId val="26691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277420336"/>
        <c:crosses val="autoZero"/>
        <c:auto val="1"/>
        <c:lblAlgn val="ctr"/>
        <c:lblOffset val="100"/>
        <c:noMultiLvlLbl val="0"/>
      </c:catAx>
      <c:valAx>
        <c:axId val="1277420336"/>
        <c:scaling>
          <c:orientation val="minMax"/>
        </c:scaling>
        <c:delete val="1"/>
        <c:axPos val="l"/>
        <c:numFmt formatCode="0%" sourceLinked="1"/>
        <c:majorTickMark val="none"/>
        <c:minorTickMark val="none"/>
        <c:tickLblPos val="nextTo"/>
        <c:crossAx val="26691935"/>
        <c:crosses val="autoZero"/>
        <c:crossBetween val="between"/>
      </c:valAx>
      <c:spPr>
        <a:noFill/>
        <a:ln>
          <a:noFill/>
        </a:ln>
        <a:effectLst/>
      </c:spPr>
    </c:plotArea>
    <c:legend>
      <c:legendPos val="b"/>
      <c:layout>
        <c:manualLayout>
          <c:xMode val="edge"/>
          <c:yMode val="edge"/>
          <c:x val="2.1434189933261436E-2"/>
          <c:y val="0.89585414122699902"/>
          <c:w val="0.96272338769188348"/>
          <c:h val="0.10414585877300098"/>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600" b="0" i="0" u="none" strike="noStrike" kern="1200" cap="all" spc="0" baseline="0">
                <a:solidFill>
                  <a:schemeClr val="tx1"/>
                </a:solidFill>
                <a:latin typeface="+mn-lt"/>
                <a:ea typeface="+mn-ea"/>
                <a:cs typeface="+mn-cs"/>
              </a:defRPr>
            </a:pPr>
            <a:r>
              <a:rPr lang="en-US" sz="1600" b="1">
                <a:solidFill>
                  <a:schemeClr val="tx1"/>
                </a:solidFill>
              </a:rPr>
              <a:t>Diagnostic vs Biopsy_rate</a:t>
            </a:r>
          </a:p>
        </c:rich>
      </c:tx>
      <c:overlay val="0"/>
      <c:spPr>
        <a:noFill/>
        <a:ln>
          <a:noFill/>
        </a:ln>
        <a:effectLst/>
      </c:spPr>
      <c:txPr>
        <a:bodyPr rot="0" spcFirstLastPara="1" vertOverflow="ellipsis" vert="horz" wrap="square" anchor="ctr" anchorCtr="1"/>
        <a:lstStyle/>
        <a:p>
          <a:pPr>
            <a:defRPr sz="1600" b="0" i="0" u="none" strike="noStrike" kern="1200" cap="all"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'SQL Query Results'!$E$113</c:f>
              <c:strCache>
                <c:ptCount val="1"/>
                <c:pt idx="0">
                  <c:v>biopsy_rate</c:v>
                </c:pt>
              </c:strCache>
            </c:strRef>
          </c:tx>
          <c:spPr>
            <a:ln w="19050" cap="rnd" cmpd="sng" algn="ctr">
              <a:solidFill>
                <a:schemeClr val="accent1">
                  <a:shade val="95000"/>
                  <a:satMod val="105000"/>
                </a:schemeClr>
              </a:solidFill>
              <a:round/>
            </a:ln>
            <a:effectLst/>
          </c:spPr>
          <c:marker>
            <c:symbol val="circle"/>
            <c:size val="17"/>
            <c:spPr>
              <a:solidFill>
                <a:schemeClr val="lt1"/>
              </a:solidFill>
              <a:ln>
                <a:noFill/>
              </a:ln>
              <a:effectLst/>
            </c:spPr>
          </c:marker>
          <c:dLbls>
            <c:spPr>
              <a:solidFill>
                <a:schemeClr val="accent1">
                  <a:lumMod val="20000"/>
                  <a:lumOff val="80000"/>
                </a:schemeClr>
              </a:solid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'SQL Query Results'!$B$114:$B$119</c:f>
              <c:strCache>
                <c:ptCount val="6"/>
                <c:pt idx="0">
                  <c:v>MEL</c:v>
                </c:pt>
                <c:pt idx="1">
                  <c:v>SCC</c:v>
                </c:pt>
                <c:pt idx="2">
                  <c:v>BCC</c:v>
                </c:pt>
                <c:pt idx="3">
                  <c:v>ACK</c:v>
                </c:pt>
                <c:pt idx="4">
                  <c:v>NEV</c:v>
                </c:pt>
                <c:pt idx="5">
                  <c:v>SEK</c:v>
                </c:pt>
              </c:strCache>
            </c:strRef>
          </c:cat>
          <c:val>
            <c:numRef>
              <c:f>'SQL Query Results'!$E$114:$E$119</c:f>
              <c:numCache>
                <c:formatCode>0%</c:formatCode>
                <c:ptCount val="6"/>
                <c:pt idx="0">
                  <c:v>1</c:v>
                </c:pt>
                <c:pt idx="1">
                  <c:v>1</c:v>
                </c:pt>
                <c:pt idx="2">
                  <c:v>1</c:v>
                </c:pt>
                <c:pt idx="3">
                  <c:v>0.21</c:v>
                </c:pt>
                <c:pt idx="4">
                  <c:v>0.08</c:v>
                </c:pt>
                <c:pt idx="5">
                  <c:v>0.04</c:v>
                </c:pt>
              </c:numCache>
            </c:numRef>
          </c:val>
          <c:smooth val="0"/>
          <c:extLst>
            <c:ext xmlns:c16="http://schemas.microsoft.com/office/drawing/2014/chart" uri="{C3380CC4-5D6E-409C-BE32-E72D297353CC}">
              <c16:uniqueId val="{00000000-7B16-40FA-804E-68649ABFAB97}"/>
            </c:ext>
          </c:extLst>
        </c:ser>
        <c:dLbls>
          <c:dLblPos val="ctr"/>
          <c:showLegendKey val="0"/>
          <c:showVal val="1"/>
          <c:showCatName val="0"/>
          <c:showSerName val="0"/>
          <c:showPercent val="0"/>
          <c:showBubbleSize val="0"/>
        </c:dLbls>
        <c:marker val="1"/>
        <c:smooth val="0"/>
        <c:axId val="242470863"/>
        <c:axId val="1158841488"/>
      </c:lineChart>
      <c:catAx>
        <c:axId val="24247086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crossAx val="1158841488"/>
        <c:crosses val="autoZero"/>
        <c:auto val="1"/>
        <c:lblAlgn val="ctr"/>
        <c:lblOffset val="100"/>
        <c:noMultiLvlLbl val="0"/>
      </c:catAx>
      <c:valAx>
        <c:axId val="1158841488"/>
        <c:scaling>
          <c:orientation val="minMax"/>
        </c:scaling>
        <c:delete val="1"/>
        <c:axPos val="l"/>
        <c:numFmt formatCode="0%" sourceLinked="1"/>
        <c:majorTickMark val="none"/>
        <c:minorTickMark val="none"/>
        <c:tickLblPos val="nextTo"/>
        <c:crossAx val="2424708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[DermAI_Patient_Health_Table.xlsx]SQL Query Results!PivotTable6</c:name>
    <c:fmtId val="2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9207862258296008E-2"/>
          <c:y val="5.4590570719602979E-2"/>
          <c:w val="0.68600742749407684"/>
          <c:h val="0.83067857212637497"/>
        </c:manualLayout>
      </c:layout>
      <c:barChart>
        <c:barDir val="col"/>
        <c:grouping val="percentStacked"/>
        <c:varyColors val="0"/>
        <c:ser>
          <c:idx val="0"/>
          <c:order val="0"/>
          <c:tx>
            <c:strRef>
              <c:f>'SQL Query Results'!$B$62</c:f>
              <c:strCache>
                <c:ptCount val="1"/>
                <c:pt idx="0">
                  <c:v>Average of itch_score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Results'!$B$63:$B$69</c:f>
              <c:numCache>
                <c:formatCode>0%</c:formatCode>
                <c:ptCount val="6"/>
                <c:pt idx="0">
                  <c:v>0.8</c:v>
                </c:pt>
                <c:pt idx="1">
                  <c:v>0.8</c:v>
                </c:pt>
                <c:pt idx="2">
                  <c:v>0.3</c:v>
                </c:pt>
                <c:pt idx="3">
                  <c:v>0.1</c:v>
                </c:pt>
                <c:pt idx="4">
                  <c:v>0.8</c:v>
                </c:pt>
                <c:pt idx="5">
                  <c:v>0.3</c:v>
                </c:pt>
              </c:numCache>
            </c:numRef>
          </c:val>
          <c:extLst>
            <c:ext xmlns:c16="http://schemas.microsoft.com/office/drawing/2014/chart" uri="{C3380CC4-5D6E-409C-BE32-E72D297353CC}">
              <c16:uniqueId val="{00000000-9B11-4754-9FDD-25D4DDA65BB2}"/>
            </c:ext>
          </c:extLst>
        </c:ser>
        <c:ser>
          <c:idx val="1"/>
          <c:order val="1"/>
          <c:tx>
            <c:strRef>
              <c:f>'SQL Query Results'!$C$62</c:f>
              <c:strCache>
                <c:ptCount val="1"/>
                <c:pt idx="0">
                  <c:v>Average of grew_score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Results'!$C$63:$C$69</c:f>
              <c:numCache>
                <c:formatCode>0%</c:formatCode>
                <c:ptCount val="6"/>
                <c:pt idx="0">
                  <c:v>0.2</c:v>
                </c:pt>
                <c:pt idx="1">
                  <c:v>0.8</c:v>
                </c:pt>
                <c:pt idx="2">
                  <c:v>0.9</c:v>
                </c:pt>
                <c:pt idx="3">
                  <c:v>0.7</c:v>
                </c:pt>
                <c:pt idx="4">
                  <c:v>0.7</c:v>
                </c:pt>
                <c:pt idx="5">
                  <c:v>0.5</c:v>
                </c:pt>
              </c:numCache>
            </c:numRef>
          </c:val>
          <c:extLst>
            <c:ext xmlns:c16="http://schemas.microsoft.com/office/drawing/2014/chart" uri="{C3380CC4-5D6E-409C-BE32-E72D297353CC}">
              <c16:uniqueId val="{00000001-9B11-4754-9FDD-25D4DDA65BB2}"/>
            </c:ext>
          </c:extLst>
        </c:ser>
        <c:ser>
          <c:idx val="2"/>
          <c:order val="2"/>
          <c:tx>
            <c:strRef>
              <c:f>'SQL Query Results'!$D$62</c:f>
              <c:strCache>
                <c:ptCount val="1"/>
                <c:pt idx="0">
                  <c:v>Average of hurt_score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Results'!$D$63:$D$69</c:f>
              <c:numCache>
                <c:formatCode>0%</c:formatCode>
                <c:ptCount val="6"/>
                <c:pt idx="0">
                  <c:v>0</c:v>
                </c:pt>
                <c:pt idx="1">
                  <c:v>0.4</c:v>
                </c:pt>
                <c:pt idx="2">
                  <c:v>0</c:v>
                </c:pt>
                <c:pt idx="3">
                  <c:v>0</c:v>
                </c:pt>
                <c:pt idx="4">
                  <c:v>0.3</c:v>
                </c:pt>
                <c:pt idx="5">
                  <c:v>0</c:v>
                </c:pt>
              </c:numCache>
            </c:numRef>
          </c:val>
          <c:extLst>
            <c:ext xmlns:c16="http://schemas.microsoft.com/office/drawing/2014/chart" uri="{C3380CC4-5D6E-409C-BE32-E72D297353CC}">
              <c16:uniqueId val="{00000002-9B11-4754-9FDD-25D4DDA65BB2}"/>
            </c:ext>
          </c:extLst>
        </c:ser>
        <c:ser>
          <c:idx val="3"/>
          <c:order val="3"/>
          <c:tx>
            <c:strRef>
              <c:f>'SQL Query Results'!$E$62</c:f>
              <c:strCache>
                <c:ptCount val="1"/>
                <c:pt idx="0">
                  <c:v>Average of changed_score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Results'!$E$63:$E$69</c:f>
              <c:numCache>
                <c:formatCode>0%</c:formatCode>
                <c:ptCount val="6"/>
                <c:pt idx="0">
                  <c:v>0</c:v>
                </c:pt>
                <c:pt idx="1">
                  <c:v>0.1</c:v>
                </c:pt>
                <c:pt idx="2">
                  <c:v>0.8</c:v>
                </c:pt>
                <c:pt idx="3">
                  <c:v>0.1</c:v>
                </c:pt>
                <c:pt idx="4">
                  <c:v>0.2</c:v>
                </c:pt>
                <c:pt idx="5">
                  <c:v>0</c:v>
                </c:pt>
              </c:numCache>
            </c:numRef>
          </c:val>
          <c:extLst>
            <c:ext xmlns:c16="http://schemas.microsoft.com/office/drawing/2014/chart" uri="{C3380CC4-5D6E-409C-BE32-E72D297353CC}">
              <c16:uniqueId val="{00000003-9B11-4754-9FDD-25D4DDA65BB2}"/>
            </c:ext>
          </c:extLst>
        </c:ser>
        <c:ser>
          <c:idx val="4"/>
          <c:order val="4"/>
          <c:tx>
            <c:strRef>
              <c:f>'SQL Query Results'!$F$62</c:f>
              <c:strCache>
                <c:ptCount val="1"/>
                <c:pt idx="0">
                  <c:v>Average of bleed_score</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Results'!$F$63:$F$69</c:f>
              <c:numCache>
                <c:formatCode>0%</c:formatCode>
                <c:ptCount val="6"/>
                <c:pt idx="0">
                  <c:v>0.1</c:v>
                </c:pt>
                <c:pt idx="1">
                  <c:v>0.6</c:v>
                </c:pt>
                <c:pt idx="2">
                  <c:v>0</c:v>
                </c:pt>
                <c:pt idx="3">
                  <c:v>0</c:v>
                </c:pt>
                <c:pt idx="4">
                  <c:v>0.3</c:v>
                </c:pt>
                <c:pt idx="5">
                  <c:v>0</c:v>
                </c:pt>
              </c:numCache>
            </c:numRef>
          </c:val>
          <c:extLst>
            <c:ext xmlns:c16="http://schemas.microsoft.com/office/drawing/2014/chart" uri="{C3380CC4-5D6E-409C-BE32-E72D297353CC}">
              <c16:uniqueId val="{00000004-9B11-4754-9FDD-25D4DDA65BB2}"/>
            </c:ext>
          </c:extLst>
        </c:ser>
        <c:ser>
          <c:idx val="5"/>
          <c:order val="5"/>
          <c:tx>
            <c:strRef>
              <c:f>'SQL Query Results'!$G$62</c:f>
              <c:strCache>
                <c:ptCount val="1"/>
                <c:pt idx="0">
                  <c:v>Average of elevation_score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'SQL Query Results'!$A$63:$A$69</c:f>
              <c:strCache>
                <c:ptCount val="6"/>
                <c:pt idx="0">
                  <c:v>ACK</c:v>
                </c:pt>
                <c:pt idx="1">
                  <c:v>BCC</c:v>
                </c:pt>
                <c:pt idx="2">
                  <c:v>MEL</c:v>
                </c:pt>
                <c:pt idx="3">
                  <c:v>NEV</c:v>
                </c:pt>
                <c:pt idx="4">
                  <c:v>SCC</c:v>
                </c:pt>
                <c:pt idx="5">
                  <c:v>SEK</c:v>
                </c:pt>
              </c:strCache>
            </c:strRef>
          </c:cat>
          <c:val>
            <c:numRef>
              <c:f>'SQL Query Results'!$G$63:$G$69</c:f>
              <c:numCache>
                <c:formatCode>0%</c:formatCode>
                <c:ptCount val="6"/>
                <c:pt idx="0">
                  <c:v>0.3</c:v>
                </c:pt>
                <c:pt idx="1">
                  <c:v>0.9</c:v>
                </c:pt>
                <c:pt idx="2">
                  <c:v>0.3</c:v>
                </c:pt>
                <c:pt idx="3">
                  <c:v>0.7</c:v>
                </c:pt>
                <c:pt idx="4">
                  <c:v>0.8</c:v>
                </c:pt>
                <c:pt idx="5">
                  <c:v>0.7</c:v>
                </c:pt>
              </c:numCache>
            </c:numRef>
          </c:val>
          <c:extLst>
            <c:ext xmlns:c16="http://schemas.microsoft.com/office/drawing/2014/chart" uri="{C3380CC4-5D6E-409C-BE32-E72D297353CC}">
              <c16:uniqueId val="{00000005-9B11-4754-9FDD-25D4DDA65BB2}"/>
            </c:ext>
          </c:extLst>
        </c:ser>
        <c:dLbls>
          <c:dLblPos val="ctr"/>
          <c:showLegendKey val="0"/>
          <c:showVal val="1"/>
          <c:showCatName val="0"/>
          <c:showSerName val="0"/>
          <c:showPercent val="0"/>
          <c:showBubbleSize val="0"/>
        </c:dLbls>
        <c:gapWidth val="79"/>
        <c:overlap val="100"/>
        <c:axId val="250848336"/>
        <c:axId val="1352750287"/>
      </c:barChart>
      <c:catAx>
        <c:axId val="2508483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crossAx val="1352750287"/>
        <c:crosses val="autoZero"/>
        <c:auto val="1"/>
        <c:lblAlgn val="ctr"/>
        <c:lblOffset val="100"/>
        <c:noMultiLvlLbl val="0"/>
      </c:catAx>
      <c:valAx>
        <c:axId val="1352750287"/>
        <c:scaling>
          <c:orientation val="minMax"/>
        </c:scaling>
        <c:delete val="1"/>
        <c:axPos val="l"/>
        <c:numFmt formatCode="0%" sourceLinked="1"/>
        <c:majorTickMark val="none"/>
        <c:minorTickMark val="none"/>
        <c:tickLblPos val="nextTo"/>
        <c:crossAx val="250848336"/>
        <c:crosses val="autoZero"/>
        <c:crossBetween val="between"/>
      </c:valAx>
      <c:spPr>
        <a:noFill/>
        <a:ln>
          <a:noFill/>
        </a:ln>
        <a:effectLst/>
      </c:spPr>
    </c:plotArea>
    <c:legend>
      <c:legendPos val="r"/>
      <c:layout>
        <c:manualLayout>
          <c:xMode val="edge"/>
          <c:yMode val="edge"/>
          <c:x val="0.75354838709677419"/>
          <c:y val="0.14032085561497323"/>
          <c:w val="0.22422951297754451"/>
          <c:h val="0.8263097633887575"/>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'[DermAI_Patient_Health_Table.xlsx]SQL Query Results'!$G$113:$G$118</cx:f>
        <cx:lvl ptCount="6">
          <cx:pt idx="0">MEL</cx:pt>
          <cx:pt idx="1">SCC</cx:pt>
          <cx:pt idx="2">BCC</cx:pt>
          <cx:pt idx="3">ACK</cx:pt>
          <cx:pt idx="4">SEK</cx:pt>
          <cx:pt idx="5">NEV</cx:pt>
        </cx:lvl>
      </cx:strDim>
      <cx:numDim type="val">
        <cx:f>'[DermAI_Patient_Health_Table.xlsx]SQL Query Results'!$H$113:$H$118</cx:f>
        <cx:lvl ptCount="6" formatCode="General">
          <cx:pt idx="0">14.09</cx:pt>
          <cx:pt idx="1">10.460000000000001</cx:pt>
          <cx:pt idx="2">9.9700000000000006</cx:pt>
          <cx:pt idx="3">2.6200000000000001</cx:pt>
          <cx:pt idx="4">0.80000000000000004</cx:pt>
          <cx:pt idx="5">0.67000000000000004</cx:pt>
        </cx:lvl>
      </cx:numDim>
    </cx:data>
  </cx:chartData>
  <cx:chart>
    <cx:title pos="t" align="ctr" overlay="0">
      <cx:tx>
        <cx:txData>
          <cx:v>Average Lesion Diameter vs Diagnostics</cx:v>
        </cx:txData>
      </cx:tx>
      <cx:txPr>
        <a:bodyPr spcFirstLastPara="1" vertOverflow="ellipsis" horzOverflow="overflow" wrap="square" lIns="0" tIns="0" rIns="0" bIns="0" anchor="ctr" anchorCtr="1"/>
        <a:lstStyle/>
        <a:p>
          <a:pPr algn="ctr" rtl="0">
            <a:defRPr sz="1800" b="1">
              <a:solidFill>
                <a:schemeClr val="tx1"/>
              </a:solidFill>
            </a:defRPr>
          </a:pPr>
          <a:r>
            <a:rPr lang="en-GB" sz="1800" b="1" i="0" u="none" strike="noStrike" baseline="0">
              <a:solidFill>
                <a:schemeClr val="tx1"/>
              </a:solidFill>
              <a:latin typeface="Aptos Narrow" panose="02110004020202020204"/>
            </a:rPr>
            <a:t>Average Lesion Diameter vs Diagnostics</a:t>
          </a:r>
        </a:p>
      </cx:txPr>
    </cx:title>
    <cx:plotArea>
      <cx:plotAreaRegion>
        <cx:series layoutId="funnel" uniqueId="{0BA594C0-D5CF-4407-B883-A4C041DF4BF5}">
          <cx:tx>
            <cx:txData>
              <cx:f>'[DermAI_Patient_Health_Table.xlsx]SQL Query Results'!$H$112</cx:f>
              <cx:v>avg_diameter_mm</cx:v>
            </cx:txData>
          </cx:tx>
          <cx:dataLabels>
            <cx:spPr>
              <a:solidFill>
                <a:schemeClr val="accent2">
                  <a:lumMod val="20000"/>
                  <a:lumOff val="80000"/>
                </a:schemeClr>
              </a:solidFill>
            </cx:spPr>
            <cx:txPr>
              <a:bodyPr spcFirstLastPara="1" vertOverflow="ellipsis" horzOverflow="overflow" wrap="square" lIns="0" tIns="0" rIns="0" bIns="0" anchor="ctr" anchorCtr="1"/>
              <a:lstStyle/>
              <a:p>
                <a:pPr algn="ctr" rtl="0">
                  <a:defRPr sz="2400" b="1">
                    <a:solidFill>
                      <a:schemeClr val="tx1"/>
                    </a:solidFill>
                  </a:defRPr>
                </a:pPr>
                <a:endParaRPr lang="en-GB" sz="2400" b="1" i="0" u="none" strike="noStrike" baseline="0">
                  <a:solidFill>
                    <a:schemeClr val="tx1"/>
                  </a:solidFill>
                  <a:latin typeface="Aptos Narrow" panose="02110004020202020204"/>
                </a:endParaRPr>
              </a:p>
            </cx:txPr>
            <cx:visibility seriesName="0" categoryName="0" value="1"/>
          </cx:dataLabels>
          <cx:dataId val="0"/>
        </cx:series>
      </cx:plotAreaRegion>
      <cx:axis id="0">
        <cx:catScaling gapWidth="0.0599999987"/>
        <cx:tickLabels/>
        <cx:txPr>
          <a:bodyPr spcFirstLastPara="1" vertOverflow="ellipsis" horzOverflow="overflow" wrap="square" lIns="0" tIns="0" rIns="0" bIns="0" anchor="ctr" anchorCtr="1"/>
          <a:lstStyle/>
          <a:p>
            <a:pPr algn="ctr" rtl="0">
              <a:defRPr sz="1600" b="1">
                <a:solidFill>
                  <a:schemeClr val="tx1"/>
                </a:solidFill>
              </a:defRPr>
            </a:pPr>
            <a:endParaRPr lang="en-GB" sz="1600" b="1" i="0" u="none" strike="noStrike" baseline="0">
              <a:solidFill>
                <a:schemeClr val="tx1"/>
              </a:solidFill>
              <a:latin typeface="Aptos Narrow" panose="02110004020202020204"/>
            </a:endParaRPr>
          </a:p>
        </cx:txPr>
      </cx:axis>
    </cx:plotArea>
  </cx:chart>
  <cx:spPr>
    <a:ln>
      <a:no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'SQL Query Results'!$B$24:$C$36</cx:f>
        <cx:lvl ptCount="13">
          <cx:pt idx="0">ACK</cx:pt>
          <cx:pt idx="1">ACK</cx:pt>
          <cx:pt idx="2">BCC</cx:pt>
          <cx:pt idx="3">BCC</cx:pt>
          <cx:pt idx="4">NEV</cx:pt>
          <cx:pt idx="5">SEK</cx:pt>
          <cx:pt idx="6">SEK</cx:pt>
          <cx:pt idx="7">NEV</cx:pt>
          <cx:pt idx="8">ACK</cx:pt>
          <cx:pt idx="9">SCC</cx:pt>
          <cx:pt idx="10">ACK</cx:pt>
          <cx:pt idx="11">BCC</cx:pt>
          <cx:pt idx="12">NEV</cx:pt>
        </cx:lvl>
        <cx:lvl ptCount="13">
          <cx:pt idx="0">(61 - 80)</cx:pt>
          <cx:pt idx="1">(41 - 60)</cx:pt>
          <cx:pt idx="2">(61 - 80)</cx:pt>
          <cx:pt idx="3">(41 - 60)</cx:pt>
          <cx:pt idx="4">(20 - 40)</cx:pt>
          <cx:pt idx="5">(61 - 80)</cx:pt>
          <cx:pt idx="6">(41 - 60)</cx:pt>
          <cx:pt idx="7">(41 - 60)</cx:pt>
          <cx:pt idx="8">(20 - 40)</cx:pt>
          <cx:pt idx="9">(61 - 80)</cx:pt>
          <cx:pt idx="10">(81 - 100)</cx:pt>
          <cx:pt idx="11">(81 - 100)</cx:pt>
          <cx:pt idx="12">Under 20</cx:pt>
        </cx:lvl>
      </cx:strDim>
      <cx:numDim type="size">
        <cx:f>'SQL Query Results'!$D$24:$D$36</cx:f>
        <cx:lvl ptCount="13" formatCode="General">
          <cx:pt idx="0">214</cx:pt>
          <cx:pt idx="1">189</cx:pt>
          <cx:pt idx="2">121</cx:pt>
          <cx:pt idx="3">110</cx:pt>
          <cx:pt idx="4">81</cx:pt>
          <cx:pt idx="5">74</cx:pt>
          <cx:pt idx="6">44</cx:pt>
          <cx:pt idx="7">39</cx:pt>
          <cx:pt idx="8">31</cx:pt>
          <cx:pt idx="9">30</cx:pt>
          <cx:pt idx="10">27</cx:pt>
          <cx:pt idx="11">25</cx:pt>
          <cx:pt idx="12">20</cx:pt>
        </cx:lvl>
      </cx:numDim>
    </cx:data>
  </cx:chartData>
  <cx:chart>
    <cx:plotArea>
      <cx:plotAreaRegion>
        <cx:series layoutId="treemap" uniqueId="{00000000-E73B-4E9B-866F-73B4EC5EF424}">
          <cx:tx>
            <cx:txData>
              <cx:f>'SQL Query Results'!$D$23</cx:f>
              <cx:v>total_cases</cx:v>
            </cx:txData>
          </cx:tx>
          <cx:dataLabels pos="inEnd">
            <cx:txPr>
              <a:bodyPr vertOverflow="overflow" horzOverflow="overflow" wrap="square" lIns="0" tIns="0" rIns="0" bIns="0"/>
              <a:lstStyle/>
              <a:p>
                <a:pPr algn="ctr" rtl="0">
                  <a:defRPr sz="1200" b="0" i="0">
                    <a:solidFill>
                      <a:srgbClr val="FFFFFF"/>
                    </a:solidFill>
                    <a:latin typeface="Franklin Gothic Medium" panose="020B0603020102020204" pitchFamily="34" charset="0"/>
                    <a:ea typeface="Franklin Gothic Medium" panose="020B0603020102020204" pitchFamily="34" charset="0"/>
                    <a:cs typeface="Franklin Gothic Medium" panose="020B0603020102020204" pitchFamily="34" charset="0"/>
                  </a:defRPr>
                </a:pPr>
                <a:endParaRPr lang="en-GB" sz="1200"/>
              </a:p>
            </cx:txPr>
            <cx:visibility seriesName="0" categoryName="1" value="1"/>
            <cx:separator>, </cx:separator>
          </cx:dataLabels>
          <cx:dataId val="0"/>
          <cx:layoutPr>
            <cx:parentLabelLayout val="overlapping"/>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 id="17">
  <a:schemeClr val="accent4"/>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0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cs:styleClr val="auto"/>
    </cs:fontRef>
    <cs:spPr/>
    <cs:defRPr sz="900"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440"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10/3/2026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10/3/2026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55D449-B875-4B8D-8E66-224D27E54C9A}" type="slidenum">
              <a:rPr lang="en-GB" smtClean="0"/>
              <a:t>7</a:t>
            </a:fld>
            <a:endParaRPr lang="en-GB"/>
          </a:p>
        </p:txBody>
      </p:sp>
    </p:spTree>
    <p:extLst>
      <p:ext uri="{BB962C8B-B14F-4D97-AF65-F5344CB8AC3E}">
        <p14:creationId xmlns:p14="http://schemas.microsoft.com/office/powerpoint/2010/main" val="640041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555D449-B875-4B8D-8E66-224D27E54C9A}" type="slidenum">
              <a:rPr lang="en-GB" smtClean="0"/>
              <a:t>14</a:t>
            </a:fld>
            <a:endParaRPr lang="en-GB"/>
          </a:p>
        </p:txBody>
      </p:sp>
    </p:spTree>
    <p:extLst>
      <p:ext uri="{BB962C8B-B14F-4D97-AF65-F5344CB8AC3E}">
        <p14:creationId xmlns:p14="http://schemas.microsoft.com/office/powerpoint/2010/main" val="21413480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GB"/>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GB"/>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10/3/2026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10/3/2026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10/3/2026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10/3/2026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GB"/>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GB"/>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GB"/>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10/3/2026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GB"/>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10/3/2026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2.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9D9D9"/>
            </a:gs>
            <a:gs pos="100000">
              <a:schemeClr val="bg1"/>
            </a:gs>
          </a:gsLst>
          <a:lin ang="81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3645024"/>
            <a:ext cx="4098175" cy="1001116"/>
          </a:xfrm>
        </p:spPr>
        <p:txBody>
          <a:bodyPr>
            <a:normAutofit/>
          </a:bodyPr>
          <a:lstStyle/>
          <a:p>
            <a:r>
              <a:rPr lang="en-US" sz="3200" dirty="0" err="1"/>
              <a:t>DermAI</a:t>
            </a:r>
            <a:r>
              <a:rPr lang="en-US" sz="3200" dirty="0"/>
              <a:t> Diagnostics Skin Cancer Analytics</a:t>
            </a:r>
          </a:p>
        </p:txBody>
      </p:sp>
      <p:sp>
        <p:nvSpPr>
          <p:cNvPr id="3" name="Subtitle 2"/>
          <p:cNvSpPr>
            <a:spLocks noGrp="1"/>
          </p:cNvSpPr>
          <p:nvPr>
            <p:ph type="subTitle" idx="1"/>
          </p:nvPr>
        </p:nvSpPr>
        <p:spPr>
          <a:xfrm>
            <a:off x="626225" y="4797152"/>
            <a:ext cx="4098175" cy="407640"/>
          </a:xfrm>
        </p:spPr>
        <p:txBody>
          <a:bodyPr>
            <a:noAutofit/>
          </a:bodyPr>
          <a:lstStyle/>
          <a:p>
            <a:r>
              <a:rPr lang="en-US" sz="2400" dirty="0"/>
              <a:t>SQL </a:t>
            </a:r>
            <a:r>
              <a:rPr lang="en-US" sz="2400" cap="none" dirty="0"/>
              <a:t>Capstone Project</a:t>
            </a:r>
          </a:p>
        </p:txBody>
      </p:sp>
      <p:sp>
        <p:nvSpPr>
          <p:cNvPr id="7" name="Subtitle 2">
            <a:extLst>
              <a:ext uri="{FF2B5EF4-FFF2-40B4-BE49-F238E27FC236}">
                <a16:creationId xmlns:a16="http://schemas.microsoft.com/office/drawing/2014/main" id="{DF3C08BC-3E3D-A1AC-BB06-6A569ACCFAD1}"/>
              </a:ext>
            </a:extLst>
          </p:cNvPr>
          <p:cNvSpPr txBox="1">
            <a:spLocks/>
          </p:cNvSpPr>
          <p:nvPr/>
        </p:nvSpPr>
        <p:spPr>
          <a:xfrm>
            <a:off x="623393" y="5469632"/>
            <a:ext cx="2952327" cy="263624"/>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800"/>
              </a:spcBef>
              <a:buSzPct val="100000"/>
              <a:buFont typeface="Arial" pitchFamily="34" charset="0"/>
              <a:buNone/>
              <a:defRPr sz="2000" kern="1200" cap="all" baseline="0">
                <a:solidFill>
                  <a:schemeClr val="tx1">
                    <a:lumMod val="50000"/>
                    <a:lumOff val="50000"/>
                  </a:schemeClr>
                </a:solidFill>
                <a:latin typeface="+mn-lt"/>
                <a:ea typeface="+mn-ea"/>
                <a:cs typeface="+mn-cs"/>
              </a:defRPr>
            </a:lvl1pPr>
            <a:lvl2pPr marL="457200" indent="0" algn="ctr" defTabSz="914400" rtl="0" eaLnBrk="1" latinLnBrk="0" hangingPunct="1">
              <a:lnSpc>
                <a:spcPct val="90000"/>
              </a:lnSpc>
              <a:spcBef>
                <a:spcPts val="600"/>
              </a:spcBef>
              <a:buSzPct val="100000"/>
              <a:buFont typeface="Arial"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600"/>
              </a:spcBef>
              <a:buSzPct val="100000"/>
              <a:buFont typeface="Arial"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600"/>
              </a:spcBef>
              <a:buSzPct val="100000"/>
              <a:buFont typeface="Arial"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600"/>
              </a:spcBef>
              <a:buSzPct val="100000"/>
              <a:buFont typeface="Arial"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400"/>
              </a:spcBef>
              <a:buSzPct val="100000"/>
              <a:buFont typeface="Arial" pitchFamily="34" charset="0"/>
              <a:buNone/>
              <a:defRPr sz="1600" kern="1200">
                <a:solidFill>
                  <a:schemeClr val="tx1">
                    <a:lumMod val="75000"/>
                    <a:lumOff val="25000"/>
                  </a:schemeClr>
                </a:solidFill>
                <a:latin typeface="+mn-lt"/>
                <a:ea typeface="+mn-ea"/>
                <a:cs typeface="+mn-cs"/>
              </a:defRPr>
            </a:lvl9pPr>
          </a:lstStyle>
          <a:p>
            <a:r>
              <a:rPr lang="en-US" sz="1400" i="1" cap="none" dirty="0"/>
              <a:t>By Pod Orion, 03 October 2026</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3859-9BC3-ADF4-B21F-86556E2BC3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746D5-9EB5-8FE4-7FF1-59B4C407E3F0}"/>
              </a:ext>
            </a:extLst>
          </p:cNvPr>
          <p:cNvSpPr>
            <a:spLocks noGrp="1"/>
          </p:cNvSpPr>
          <p:nvPr>
            <p:ph idx="1"/>
          </p:nvPr>
        </p:nvSpPr>
        <p:spPr>
          <a:xfrm>
            <a:off x="632789" y="1916832"/>
            <a:ext cx="10863811" cy="4104456"/>
          </a:xfrm>
        </p:spPr>
        <p:txBody>
          <a:bodyPr>
            <a:normAutofit fontScale="62500" lnSpcReduction="20000"/>
          </a:bodyPr>
          <a:lstStyle/>
          <a:p>
            <a:pPr marL="0" indent="0">
              <a:spcBef>
                <a:spcPts val="1800"/>
              </a:spcBef>
              <a:buNone/>
            </a:pPr>
            <a:r>
              <a:rPr lang="en-GB" sz="2900" b="1" dirty="0" err="1"/>
              <a:t>DermAI</a:t>
            </a:r>
            <a:r>
              <a:rPr lang="en-GB" sz="2900" b="1" dirty="0"/>
              <a:t> Diagnostic company’s</a:t>
            </a:r>
          </a:p>
          <a:p>
            <a:pPr>
              <a:lnSpc>
                <a:spcPct val="120000"/>
              </a:lnSpc>
              <a:spcBef>
                <a:spcPts val="1800"/>
              </a:spcBef>
            </a:pPr>
            <a:r>
              <a:rPr lang="en-GB" sz="2500" dirty="0"/>
              <a:t>Business model focuses on bridging the gap between medical practitioners and machine learning-based skin lesion classification by:</a:t>
            </a:r>
          </a:p>
          <a:p>
            <a:pPr marL="0" indent="0">
              <a:lnSpc>
                <a:spcPct val="120000"/>
              </a:lnSpc>
              <a:spcBef>
                <a:spcPts val="600"/>
              </a:spcBef>
              <a:buNone/>
            </a:pPr>
            <a:endParaRPr lang="en-GB" sz="2000" dirty="0"/>
          </a:p>
          <a:p>
            <a:pPr marL="539750" lvl="1" indent="-269875">
              <a:lnSpc>
                <a:spcPct val="120000"/>
              </a:lnSpc>
              <a:spcBef>
                <a:spcPts val="1800"/>
              </a:spcBef>
              <a:buFont typeface="Courier New" panose="02070309020205020404" pitchFamily="49" charset="0"/>
              <a:buChar char="o"/>
            </a:pPr>
            <a:r>
              <a:rPr lang="en-GB" sz="2500" dirty="0"/>
              <a:t>Providing a structured dataset and digital tools that support medical research, epidemiological studies, and AI-driven skin cancer detection; and</a:t>
            </a:r>
          </a:p>
          <a:p>
            <a:pPr marL="269875" lvl="1" indent="0">
              <a:lnSpc>
                <a:spcPct val="120000"/>
              </a:lnSpc>
              <a:buNone/>
            </a:pPr>
            <a:endParaRPr lang="en-GB" sz="2000" dirty="0"/>
          </a:p>
          <a:p>
            <a:pPr marL="539750" lvl="1" indent="-269875">
              <a:lnSpc>
                <a:spcPct val="120000"/>
              </a:lnSpc>
              <a:spcBef>
                <a:spcPts val="1800"/>
              </a:spcBef>
              <a:buFont typeface="Courier New" panose="02070309020205020404" pitchFamily="49" charset="0"/>
              <a:buChar char="o"/>
            </a:pPr>
            <a:r>
              <a:rPr lang="en-GB" sz="2500" dirty="0"/>
              <a:t>Creating data-driven insights that can assist dermatologists in early-stage detection of skin cancer, enhance both the quality and the timeline of decision-making, and ultimately improve public health outcomes</a:t>
            </a:r>
          </a:p>
          <a:p>
            <a:pPr marL="269875" lvl="1" indent="0">
              <a:lnSpc>
                <a:spcPct val="120000"/>
              </a:lnSpc>
              <a:buNone/>
            </a:pPr>
            <a:endParaRPr lang="en-GB" sz="2000" dirty="0"/>
          </a:p>
          <a:p>
            <a:pPr marL="893763" lvl="3" indent="-354013">
              <a:lnSpc>
                <a:spcPct val="120000"/>
              </a:lnSpc>
              <a:spcBef>
                <a:spcPts val="1800"/>
              </a:spcBef>
              <a:buFont typeface="Wingdings" panose="05000000000000000000" pitchFamily="2" charset="2"/>
              <a:buChar char="ü"/>
            </a:pPr>
            <a:r>
              <a:rPr lang="en-GB" sz="2500" dirty="0"/>
              <a:t>Through a combination of AI-powered diagnostic tools, real-world clinical data, and SQL-based research</a:t>
            </a:r>
          </a:p>
          <a:p>
            <a:pPr marL="0" indent="0">
              <a:spcBef>
                <a:spcPts val="1800"/>
              </a:spcBef>
              <a:buNone/>
            </a:pPr>
            <a:endParaRPr lang="en-GB" dirty="0"/>
          </a:p>
        </p:txBody>
      </p:sp>
      <p:sp>
        <p:nvSpPr>
          <p:cNvPr id="4" name="Title 1">
            <a:extLst>
              <a:ext uri="{FF2B5EF4-FFF2-40B4-BE49-F238E27FC236}">
                <a16:creationId xmlns:a16="http://schemas.microsoft.com/office/drawing/2014/main" id="{815A8B36-FA9F-3CE6-D6FA-EDFEC27DB40A}"/>
              </a:ext>
            </a:extLst>
          </p:cNvPr>
          <p:cNvSpPr>
            <a:spLocks noGrp="1"/>
          </p:cNvSpPr>
          <p:nvPr>
            <p:ph type="title"/>
          </p:nvPr>
        </p:nvSpPr>
        <p:spPr>
          <a:xfrm>
            <a:off x="632791" y="404664"/>
            <a:ext cx="5535218" cy="589032"/>
          </a:xfrm>
        </p:spPr>
        <p:txBody>
          <a:bodyPr>
            <a:normAutofit/>
          </a:bodyPr>
          <a:lstStyle/>
          <a:p>
            <a:r>
              <a:rPr lang="en-GB" sz="2800" b="1" dirty="0"/>
              <a:t>Information about the Company</a:t>
            </a:r>
          </a:p>
        </p:txBody>
      </p:sp>
      <p:sp>
        <p:nvSpPr>
          <p:cNvPr id="5" name="Title 1">
            <a:extLst>
              <a:ext uri="{FF2B5EF4-FFF2-40B4-BE49-F238E27FC236}">
                <a16:creationId xmlns:a16="http://schemas.microsoft.com/office/drawing/2014/main" id="{78BFF042-15EC-48B0-426A-EA0DB82C53EF}"/>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Tree>
    <p:extLst>
      <p:ext uri="{BB962C8B-B14F-4D97-AF65-F5344CB8AC3E}">
        <p14:creationId xmlns:p14="http://schemas.microsoft.com/office/powerpoint/2010/main" val="29510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B8536-84CA-68F3-6650-8766B8D932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2E027A-FBA9-315B-84E3-59826181D744}"/>
              </a:ext>
            </a:extLst>
          </p:cNvPr>
          <p:cNvSpPr>
            <a:spLocks noGrp="1"/>
          </p:cNvSpPr>
          <p:nvPr>
            <p:ph idx="1"/>
          </p:nvPr>
        </p:nvSpPr>
        <p:spPr>
          <a:xfrm>
            <a:off x="632789" y="1700808"/>
            <a:ext cx="10928829" cy="4680520"/>
          </a:xfrm>
        </p:spPr>
        <p:txBody>
          <a:bodyPr>
            <a:normAutofit fontScale="47500" lnSpcReduction="20000"/>
          </a:bodyPr>
          <a:lstStyle/>
          <a:p>
            <a:pPr marL="0" indent="0">
              <a:spcBef>
                <a:spcPts val="1800"/>
              </a:spcBef>
              <a:buNone/>
            </a:pPr>
            <a:r>
              <a:rPr lang="en-GB" sz="3400" b="1" dirty="0"/>
              <a:t>Business Problem</a:t>
            </a:r>
          </a:p>
          <a:p>
            <a:pPr>
              <a:lnSpc>
                <a:spcPct val="120000"/>
              </a:lnSpc>
              <a:spcBef>
                <a:spcPts val="1800"/>
              </a:spcBef>
            </a:pPr>
            <a:r>
              <a:rPr lang="en-GB" sz="2900" dirty="0"/>
              <a:t>Delay in skin cancer detention due to:</a:t>
            </a:r>
          </a:p>
          <a:p>
            <a:pPr marL="539750" lvl="1" indent="-269875">
              <a:lnSpc>
                <a:spcPct val="120000"/>
              </a:lnSpc>
              <a:spcBef>
                <a:spcPts val="1800"/>
              </a:spcBef>
              <a:buFont typeface="Courier New" panose="02070309020205020404" pitchFamily="49" charset="0"/>
              <a:buChar char="o"/>
            </a:pPr>
            <a:r>
              <a:rPr lang="en-GB" sz="2900" dirty="0"/>
              <a:t>Misdiagnosis</a:t>
            </a:r>
          </a:p>
          <a:p>
            <a:pPr marL="539750" lvl="1" indent="-269875">
              <a:lnSpc>
                <a:spcPct val="120000"/>
              </a:lnSpc>
              <a:spcBef>
                <a:spcPts val="1800"/>
              </a:spcBef>
              <a:buFont typeface="Courier New" panose="02070309020205020404" pitchFamily="49" charset="0"/>
              <a:buChar char="o"/>
            </a:pPr>
            <a:r>
              <a:rPr lang="en-GB" sz="2900" dirty="0"/>
              <a:t>Lack of access to dermatologists, and </a:t>
            </a:r>
          </a:p>
          <a:p>
            <a:pPr marL="539750" lvl="1" indent="-269875">
              <a:lnSpc>
                <a:spcPct val="120000"/>
              </a:lnSpc>
              <a:spcBef>
                <a:spcPts val="1800"/>
              </a:spcBef>
              <a:buFont typeface="Courier New" panose="02070309020205020404" pitchFamily="49" charset="0"/>
              <a:buChar char="o"/>
            </a:pPr>
            <a:r>
              <a:rPr lang="en-GB" sz="2900" dirty="0"/>
              <a:t>Limited understanding of environmental risk factors</a:t>
            </a:r>
          </a:p>
          <a:p>
            <a:pPr marL="269875" lvl="1" indent="0">
              <a:lnSpc>
                <a:spcPct val="120000"/>
              </a:lnSpc>
              <a:buNone/>
            </a:pPr>
            <a:endParaRPr lang="en-GB" sz="1100" dirty="0"/>
          </a:p>
          <a:p>
            <a:pPr marL="0" indent="0">
              <a:spcBef>
                <a:spcPts val="1800"/>
              </a:spcBef>
              <a:buNone/>
            </a:pPr>
            <a:r>
              <a:rPr lang="en-GB" sz="3400" b="1" dirty="0"/>
              <a:t>Required Interventions</a:t>
            </a:r>
          </a:p>
          <a:p>
            <a:pPr>
              <a:lnSpc>
                <a:spcPct val="120000"/>
              </a:lnSpc>
            </a:pPr>
            <a:r>
              <a:rPr lang="en-GB" sz="2900" dirty="0"/>
              <a:t>Leveraging the company’s skin lesions and related dataset</a:t>
            </a:r>
          </a:p>
          <a:p>
            <a:pPr lvl="1">
              <a:lnSpc>
                <a:spcPct val="120000"/>
              </a:lnSpc>
              <a:spcBef>
                <a:spcPts val="1800"/>
              </a:spcBef>
              <a:buFont typeface="Courier New" panose="02070309020205020404" pitchFamily="49" charset="0"/>
              <a:buChar char="o"/>
            </a:pPr>
            <a:r>
              <a:rPr lang="en-GB" sz="2900" dirty="0"/>
              <a:t>Uncover key patterns that link demographics, environmental exposure, and lesion characteristics to different types of skin cancer</a:t>
            </a:r>
          </a:p>
          <a:p>
            <a:pPr lvl="1">
              <a:lnSpc>
                <a:spcPct val="120000"/>
              </a:lnSpc>
              <a:spcBef>
                <a:spcPts val="1800"/>
              </a:spcBef>
              <a:buFont typeface="Courier New" panose="02070309020205020404" pitchFamily="49" charset="0"/>
              <a:buChar char="o"/>
            </a:pPr>
            <a:r>
              <a:rPr lang="en-GB" sz="2900" dirty="0"/>
              <a:t>Develop evidence-based insights that can enhance early-stage diagnosis and machine learning-based decision support </a:t>
            </a:r>
          </a:p>
          <a:p>
            <a:pPr marL="720725" lvl="1" indent="-269875">
              <a:lnSpc>
                <a:spcPct val="120000"/>
              </a:lnSpc>
              <a:spcBef>
                <a:spcPts val="1800"/>
              </a:spcBef>
              <a:buFont typeface="Wingdings" panose="05000000000000000000" pitchFamily="2" charset="2"/>
              <a:buChar char="ü"/>
              <a:tabLst>
                <a:tab pos="803275" algn="l"/>
              </a:tabLst>
            </a:pPr>
            <a:r>
              <a:rPr lang="en-GB" sz="2900" dirty="0"/>
              <a:t>By structuring the data for SQL queries, analysis, and model training</a:t>
            </a:r>
          </a:p>
        </p:txBody>
      </p:sp>
      <p:sp>
        <p:nvSpPr>
          <p:cNvPr id="5" name="Title 1">
            <a:extLst>
              <a:ext uri="{FF2B5EF4-FFF2-40B4-BE49-F238E27FC236}">
                <a16:creationId xmlns:a16="http://schemas.microsoft.com/office/drawing/2014/main" id="{8AF1109A-B66E-2D0F-43CE-9AFACBE442F9}"/>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7" name="Title 1">
            <a:extLst>
              <a:ext uri="{FF2B5EF4-FFF2-40B4-BE49-F238E27FC236}">
                <a16:creationId xmlns:a16="http://schemas.microsoft.com/office/drawing/2014/main" id="{5BFDB49F-BE87-1066-27D7-E98A64F8C04C}"/>
              </a:ext>
            </a:extLst>
          </p:cNvPr>
          <p:cNvSpPr>
            <a:spLocks noGrp="1"/>
          </p:cNvSpPr>
          <p:nvPr>
            <p:ph type="title"/>
          </p:nvPr>
        </p:nvSpPr>
        <p:spPr>
          <a:xfrm>
            <a:off x="632790" y="404664"/>
            <a:ext cx="6831362" cy="589032"/>
          </a:xfrm>
        </p:spPr>
        <p:txBody>
          <a:bodyPr>
            <a:normAutofit/>
          </a:bodyPr>
          <a:lstStyle/>
          <a:p>
            <a:r>
              <a:rPr lang="en-GB" sz="2800" b="1" dirty="0"/>
              <a:t>Business Problem &amp; Required Interventions</a:t>
            </a:r>
          </a:p>
        </p:txBody>
      </p:sp>
    </p:spTree>
    <p:extLst>
      <p:ext uri="{BB962C8B-B14F-4D97-AF65-F5344CB8AC3E}">
        <p14:creationId xmlns:p14="http://schemas.microsoft.com/office/powerpoint/2010/main" val="26071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D11D-B4E6-1517-6EF3-7C046CE352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3ECC2F-92BC-1A08-B694-03A83775C2B4}"/>
              </a:ext>
            </a:extLst>
          </p:cNvPr>
          <p:cNvSpPr>
            <a:spLocks noGrp="1"/>
          </p:cNvSpPr>
          <p:nvPr>
            <p:ph idx="1"/>
          </p:nvPr>
        </p:nvSpPr>
        <p:spPr>
          <a:xfrm>
            <a:off x="632789" y="1988840"/>
            <a:ext cx="10928829" cy="3384376"/>
          </a:xfrm>
        </p:spPr>
        <p:txBody>
          <a:bodyPr>
            <a:normAutofit fontScale="62500" lnSpcReduction="20000"/>
          </a:bodyPr>
          <a:lstStyle/>
          <a:p>
            <a:pPr marL="0" indent="0">
              <a:spcBef>
                <a:spcPts val="1800"/>
              </a:spcBef>
              <a:buNone/>
            </a:pPr>
            <a:r>
              <a:rPr lang="en-GB" sz="2900" b="1" dirty="0"/>
              <a:t>Key analytics direction for the skin cancer project</a:t>
            </a:r>
          </a:p>
          <a:p>
            <a:pPr>
              <a:lnSpc>
                <a:spcPct val="120000"/>
              </a:lnSpc>
              <a:spcBef>
                <a:spcPts val="2400"/>
              </a:spcBef>
            </a:pPr>
            <a:r>
              <a:rPr lang="en-GB" sz="2500" dirty="0"/>
              <a:t>Develop a SQL database for students to practice joining clinical and lesion data for effective skin</a:t>
            </a:r>
          </a:p>
          <a:p>
            <a:pPr>
              <a:lnSpc>
                <a:spcPct val="120000"/>
              </a:lnSpc>
              <a:spcBef>
                <a:spcPts val="2400"/>
              </a:spcBef>
            </a:pPr>
            <a:r>
              <a:rPr lang="en-GB" sz="2500" dirty="0"/>
              <a:t>Identify environmental and demographic risk factors that correlate with specific skin lesions</a:t>
            </a:r>
          </a:p>
          <a:p>
            <a:pPr>
              <a:lnSpc>
                <a:spcPct val="120000"/>
              </a:lnSpc>
              <a:spcBef>
                <a:spcPts val="2400"/>
              </a:spcBef>
            </a:pPr>
            <a:r>
              <a:rPr lang="en-GB" sz="2500" dirty="0"/>
              <a:t>Analyse lesion characteristics to find patterns that indicate cancerous vs. benign lesions</a:t>
            </a:r>
          </a:p>
          <a:p>
            <a:pPr>
              <a:lnSpc>
                <a:spcPct val="120000"/>
              </a:lnSpc>
              <a:spcBef>
                <a:spcPts val="2400"/>
              </a:spcBef>
            </a:pPr>
            <a:r>
              <a:rPr lang="en-GB" sz="2500" dirty="0"/>
              <a:t>Create a machine learning-ready dataset that supports AI-based early detection of skin cancer using structured metadata</a:t>
            </a:r>
          </a:p>
          <a:p>
            <a:pPr>
              <a:lnSpc>
                <a:spcPct val="120000"/>
              </a:lnSpc>
              <a:spcBef>
                <a:spcPts val="2400"/>
              </a:spcBef>
            </a:pPr>
            <a:r>
              <a:rPr lang="en-GB" sz="2500" dirty="0"/>
              <a:t>Enhance dermatological research by providing a well-organized dataset for epidemiological studies and AI model training</a:t>
            </a:r>
          </a:p>
        </p:txBody>
      </p:sp>
      <p:sp>
        <p:nvSpPr>
          <p:cNvPr id="5" name="Title 1">
            <a:extLst>
              <a:ext uri="{FF2B5EF4-FFF2-40B4-BE49-F238E27FC236}">
                <a16:creationId xmlns:a16="http://schemas.microsoft.com/office/drawing/2014/main" id="{C993C966-BE7E-1D88-8947-532EE9216CD6}"/>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7" name="Title 1">
            <a:extLst>
              <a:ext uri="{FF2B5EF4-FFF2-40B4-BE49-F238E27FC236}">
                <a16:creationId xmlns:a16="http://schemas.microsoft.com/office/drawing/2014/main" id="{B22580FB-8EBF-CE39-D921-8951338C58D3}"/>
              </a:ext>
            </a:extLst>
          </p:cNvPr>
          <p:cNvSpPr>
            <a:spLocks noGrp="1"/>
          </p:cNvSpPr>
          <p:nvPr>
            <p:ph type="title"/>
          </p:nvPr>
        </p:nvSpPr>
        <p:spPr>
          <a:xfrm>
            <a:off x="632790" y="404664"/>
            <a:ext cx="6255297" cy="589032"/>
          </a:xfrm>
        </p:spPr>
        <p:txBody>
          <a:bodyPr>
            <a:normAutofit/>
          </a:bodyPr>
          <a:lstStyle/>
          <a:p>
            <a:r>
              <a:rPr lang="en-GB" sz="2800" b="1" dirty="0"/>
              <a:t>Key Analytics for the Project</a:t>
            </a:r>
          </a:p>
        </p:txBody>
      </p:sp>
    </p:spTree>
    <p:extLst>
      <p:ext uri="{BB962C8B-B14F-4D97-AF65-F5344CB8AC3E}">
        <p14:creationId xmlns:p14="http://schemas.microsoft.com/office/powerpoint/2010/main" val="1563486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B0F7B-0E6D-9D05-E199-DF561A7995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0E77975-E2FC-EF29-3A60-569B7D69C63E}"/>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pic>
        <p:nvPicPr>
          <p:cNvPr id="10" name="Picture 9">
            <a:extLst>
              <a:ext uri="{FF2B5EF4-FFF2-40B4-BE49-F238E27FC236}">
                <a16:creationId xmlns:a16="http://schemas.microsoft.com/office/drawing/2014/main" id="{FDA9AEAA-469C-E55A-2613-9FBE82467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4664"/>
            <a:ext cx="12192000" cy="6453403"/>
          </a:xfrm>
          <a:prstGeom prst="rect">
            <a:avLst/>
          </a:prstGeom>
        </p:spPr>
      </p:pic>
    </p:spTree>
    <p:extLst>
      <p:ext uri="{BB962C8B-B14F-4D97-AF65-F5344CB8AC3E}">
        <p14:creationId xmlns:p14="http://schemas.microsoft.com/office/powerpoint/2010/main" val="29504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A9CC64-5067-C8F3-D545-3381B45C49F3}"/>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21D90012-C511-5595-B739-74D32CBFA2BE}"/>
              </a:ext>
            </a:extLst>
          </p:cNvPr>
          <p:cNvSpPr>
            <a:spLocks noGrp="1"/>
          </p:cNvSpPr>
          <p:nvPr>
            <p:ph type="title"/>
          </p:nvPr>
        </p:nvSpPr>
        <p:spPr>
          <a:xfrm>
            <a:off x="632790" y="404664"/>
            <a:ext cx="2781875" cy="589032"/>
          </a:xfrm>
        </p:spPr>
        <p:txBody>
          <a:bodyPr>
            <a:normAutofit/>
          </a:bodyPr>
          <a:lstStyle/>
          <a:p>
            <a:r>
              <a:rPr lang="en-GB" sz="2800" b="1" dirty="0"/>
              <a:t>Key Insights…</a:t>
            </a:r>
          </a:p>
        </p:txBody>
      </p:sp>
      <p:graphicFrame>
        <p:nvGraphicFramePr>
          <p:cNvPr id="2" name="Chart 1">
            <a:extLst>
              <a:ext uri="{FF2B5EF4-FFF2-40B4-BE49-F238E27FC236}">
                <a16:creationId xmlns:a16="http://schemas.microsoft.com/office/drawing/2014/main" id="{F5F6BF93-9A2D-401E-A80C-30CCADDD10A8}"/>
              </a:ext>
            </a:extLst>
          </p:cNvPr>
          <p:cNvGraphicFramePr>
            <a:graphicFrameLocks/>
          </p:cNvGraphicFramePr>
          <p:nvPr>
            <p:extLst>
              <p:ext uri="{D42A27DB-BD31-4B8C-83A1-F6EECF244321}">
                <p14:modId xmlns:p14="http://schemas.microsoft.com/office/powerpoint/2010/main" val="2704313253"/>
              </p:ext>
            </p:extLst>
          </p:nvPr>
        </p:nvGraphicFramePr>
        <p:xfrm>
          <a:off x="407368" y="1762499"/>
          <a:ext cx="7848872" cy="4752528"/>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2">
            <a:extLst>
              <a:ext uri="{FF2B5EF4-FFF2-40B4-BE49-F238E27FC236}">
                <a16:creationId xmlns:a16="http://schemas.microsoft.com/office/drawing/2014/main" id="{040F4086-5076-D59C-ACEC-34187959F3BD}"/>
              </a:ext>
            </a:extLst>
          </p:cNvPr>
          <p:cNvSpPr txBox="1">
            <a:spLocks/>
          </p:cNvSpPr>
          <p:nvPr/>
        </p:nvSpPr>
        <p:spPr>
          <a:xfrm>
            <a:off x="8616280" y="1754182"/>
            <a:ext cx="3312368" cy="475252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dirty="0"/>
              <a:t>Three of the six lesion diagnoses observed from the data were benign and precancerous lesions:</a:t>
            </a:r>
          </a:p>
          <a:p>
            <a:pPr marL="0" indent="0">
              <a:lnSpc>
                <a:spcPct val="120000"/>
              </a:lnSpc>
              <a:spcBef>
                <a:spcPts val="600"/>
              </a:spcBef>
              <a:buFont typeface="Arial" pitchFamily="34" charset="0"/>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Nevus (Mole), Seborrheic Keratosis, and Actinic Keratosis</a:t>
            </a:r>
          </a:p>
          <a:p>
            <a:pPr marL="803275" lvl="1" indent="-263525">
              <a:lnSpc>
                <a:spcPct val="120000"/>
              </a:lnSpc>
              <a:spcBef>
                <a:spcPts val="1800"/>
              </a:spcBef>
              <a:buFont typeface="Wingdings" panose="05000000000000000000" pitchFamily="2" charset="2"/>
              <a:buChar char="ü"/>
            </a:pPr>
            <a:r>
              <a:rPr lang="en-GB" sz="1900" dirty="0"/>
              <a:t>Together, these accounted for 68% of all diagnoses</a:t>
            </a:r>
          </a:p>
          <a:p>
            <a:pPr marL="269875" lvl="1" indent="0">
              <a:lnSpc>
                <a:spcPct val="120000"/>
              </a:lnSpc>
              <a:buFont typeface="Arial" pitchFamily="34" charset="0"/>
              <a:buNone/>
            </a:pPr>
            <a:endParaRPr lang="en-GB" sz="1000" dirty="0"/>
          </a:p>
          <a:p>
            <a:pPr>
              <a:lnSpc>
                <a:spcPct val="120000"/>
              </a:lnSpc>
            </a:pPr>
            <a:r>
              <a:rPr lang="en-GB" sz="2200" dirty="0"/>
              <a:t>The remaining half were types of skin cancer:</a:t>
            </a:r>
          </a:p>
          <a:p>
            <a:pPr marL="0" indent="0">
              <a:lnSpc>
                <a:spcPct val="120000"/>
              </a:lnSpc>
              <a:spcBef>
                <a:spcPts val="600"/>
              </a:spcBef>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Basal Cell Carcinoma, Squamous Cell Carcinoma, and Melanoma</a:t>
            </a:r>
          </a:p>
          <a:p>
            <a:pPr marL="803275" lvl="1" indent="-263525">
              <a:lnSpc>
                <a:spcPct val="120000"/>
              </a:lnSpc>
              <a:spcBef>
                <a:spcPts val="1800"/>
              </a:spcBef>
              <a:buFont typeface="Wingdings" panose="05000000000000000000" pitchFamily="2" charset="2"/>
              <a:buChar char="ü"/>
            </a:pPr>
            <a:r>
              <a:rPr lang="en-GB" sz="1900" dirty="0"/>
              <a:t>The combined proportion of all diagnoses was 32%</a:t>
            </a:r>
          </a:p>
        </p:txBody>
      </p:sp>
    </p:spTree>
    <p:extLst>
      <p:ext uri="{BB962C8B-B14F-4D97-AF65-F5344CB8AC3E}">
        <p14:creationId xmlns:p14="http://schemas.microsoft.com/office/powerpoint/2010/main" val="82255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B5F13-24EA-D360-8419-C09D46B061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04EAFD0-DB06-451F-A670-428FBAF1ADAC}"/>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8AA2B66E-C894-B46A-C0F1-973C47BF6B70}"/>
              </a:ext>
            </a:extLst>
          </p:cNvPr>
          <p:cNvSpPr>
            <a:spLocks noGrp="1"/>
          </p:cNvSpPr>
          <p:nvPr>
            <p:ph type="title"/>
          </p:nvPr>
        </p:nvSpPr>
        <p:spPr>
          <a:xfrm>
            <a:off x="632790" y="404664"/>
            <a:ext cx="2781875" cy="589032"/>
          </a:xfrm>
        </p:spPr>
        <p:txBody>
          <a:bodyPr>
            <a:normAutofit/>
          </a:bodyPr>
          <a:lstStyle/>
          <a:p>
            <a:r>
              <a:rPr lang="en-GB" sz="2800" b="1" dirty="0"/>
              <a:t>…Key Insights</a:t>
            </a:r>
          </a:p>
        </p:txBody>
      </p:sp>
      <p:graphicFrame>
        <p:nvGraphicFramePr>
          <p:cNvPr id="2" name="Chart 1">
            <a:extLst>
              <a:ext uri="{FF2B5EF4-FFF2-40B4-BE49-F238E27FC236}">
                <a16:creationId xmlns:a16="http://schemas.microsoft.com/office/drawing/2014/main" id="{B6F18E0E-9188-4716-BB44-EDC0C6031BFC}"/>
              </a:ext>
            </a:extLst>
          </p:cNvPr>
          <p:cNvGraphicFramePr>
            <a:graphicFrameLocks/>
          </p:cNvGraphicFramePr>
          <p:nvPr>
            <p:extLst>
              <p:ext uri="{D42A27DB-BD31-4B8C-83A1-F6EECF244321}">
                <p14:modId xmlns:p14="http://schemas.microsoft.com/office/powerpoint/2010/main" val="3741587455"/>
              </p:ext>
            </p:extLst>
          </p:nvPr>
        </p:nvGraphicFramePr>
        <p:xfrm>
          <a:off x="479376" y="1844824"/>
          <a:ext cx="7144075" cy="4032447"/>
        </p:xfrm>
        <a:graphic>
          <a:graphicData uri="http://schemas.openxmlformats.org/drawingml/2006/chart">
            <c:chart xmlns:c="http://schemas.openxmlformats.org/drawingml/2006/chart" xmlns:r="http://schemas.openxmlformats.org/officeDocument/2006/relationships" r:id="rId3"/>
          </a:graphicData>
        </a:graphic>
      </p:graphicFrame>
      <p:sp>
        <p:nvSpPr>
          <p:cNvPr id="7" name="Content Placeholder 2">
            <a:extLst>
              <a:ext uri="{FF2B5EF4-FFF2-40B4-BE49-F238E27FC236}">
                <a16:creationId xmlns:a16="http://schemas.microsoft.com/office/drawing/2014/main" id="{20F8343E-C882-AB0B-563A-E1E3C46643DE}"/>
              </a:ext>
            </a:extLst>
          </p:cNvPr>
          <p:cNvSpPr txBox="1">
            <a:spLocks/>
          </p:cNvSpPr>
          <p:nvPr/>
        </p:nvSpPr>
        <p:spPr>
          <a:xfrm>
            <a:off x="8544272" y="1754182"/>
            <a:ext cx="3384376" cy="48431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1800" b="1" dirty="0"/>
              <a:t>A much higher proportion of all cases were diagnosed for males than females:</a:t>
            </a:r>
          </a:p>
          <a:p>
            <a:pPr marL="0" indent="0">
              <a:lnSpc>
                <a:spcPct val="120000"/>
              </a:lnSpc>
              <a:spcBef>
                <a:spcPts val="600"/>
              </a:spcBef>
              <a:buFont typeface="Arial" pitchFamily="34" charset="0"/>
              <a:buNone/>
            </a:pPr>
            <a:endParaRPr lang="en-GB" sz="1800" b="1" dirty="0"/>
          </a:p>
          <a:p>
            <a:pPr marL="539750" lvl="1" indent="-269875">
              <a:lnSpc>
                <a:spcPct val="120000"/>
              </a:lnSpc>
              <a:spcBef>
                <a:spcPts val="1800"/>
              </a:spcBef>
              <a:buFont typeface="Courier New" panose="02070309020205020404" pitchFamily="49" charset="0"/>
              <a:buChar char="o"/>
            </a:pPr>
            <a:r>
              <a:rPr lang="en-GB" sz="1800" b="1" dirty="0"/>
              <a:t>Males (726 cases: signifying 67% of all cases); and</a:t>
            </a:r>
          </a:p>
          <a:p>
            <a:pPr marL="539750" lvl="1" indent="-269875">
              <a:lnSpc>
                <a:spcPct val="120000"/>
              </a:lnSpc>
              <a:spcBef>
                <a:spcPts val="1800"/>
              </a:spcBef>
              <a:buFont typeface="Courier New" panose="02070309020205020404" pitchFamily="49" charset="0"/>
              <a:buChar char="o"/>
            </a:pPr>
            <a:r>
              <a:rPr lang="en-GB" sz="1800" b="1" dirty="0"/>
              <a:t>Females (362 cases: which represents 33% of all cases)</a:t>
            </a:r>
          </a:p>
        </p:txBody>
      </p:sp>
    </p:spTree>
    <p:extLst>
      <p:ext uri="{BB962C8B-B14F-4D97-AF65-F5344CB8AC3E}">
        <p14:creationId xmlns:p14="http://schemas.microsoft.com/office/powerpoint/2010/main" val="80266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0579D-D8C6-B151-13AD-61A6A5AD7B9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5A3AE8-D048-A6B3-F5AC-0FA2A426EE9C}"/>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5DF506B8-46EE-E732-3A44-C18D9254C4A5}"/>
              </a:ext>
            </a:extLst>
          </p:cNvPr>
          <p:cNvSpPr>
            <a:spLocks noGrp="1"/>
          </p:cNvSpPr>
          <p:nvPr>
            <p:ph type="title"/>
          </p:nvPr>
        </p:nvSpPr>
        <p:spPr>
          <a:xfrm>
            <a:off x="632790" y="404664"/>
            <a:ext cx="2781875" cy="589032"/>
          </a:xfrm>
        </p:spPr>
        <p:txBody>
          <a:bodyPr>
            <a:normAutofit/>
          </a:bodyPr>
          <a:lstStyle/>
          <a:p>
            <a:r>
              <a:rPr lang="en-GB" sz="2800" b="1" dirty="0"/>
              <a:t>…Key Insights</a:t>
            </a:r>
          </a:p>
        </p:txBody>
      </p:sp>
      <p:graphicFrame>
        <p:nvGraphicFramePr>
          <p:cNvPr id="10" name="Chart 9">
            <a:extLst>
              <a:ext uri="{FF2B5EF4-FFF2-40B4-BE49-F238E27FC236}">
                <a16:creationId xmlns:a16="http://schemas.microsoft.com/office/drawing/2014/main" id="{32B6C3A7-6735-C452-C8F6-D2BA18064CF8}"/>
              </a:ext>
            </a:extLst>
          </p:cNvPr>
          <p:cNvGraphicFramePr>
            <a:graphicFrameLocks/>
          </p:cNvGraphicFramePr>
          <p:nvPr>
            <p:extLst>
              <p:ext uri="{D42A27DB-BD31-4B8C-83A1-F6EECF244321}">
                <p14:modId xmlns:p14="http://schemas.microsoft.com/office/powerpoint/2010/main" val="262675769"/>
              </p:ext>
            </p:extLst>
          </p:nvPr>
        </p:nvGraphicFramePr>
        <p:xfrm>
          <a:off x="335360" y="1916832"/>
          <a:ext cx="7560840" cy="4464496"/>
        </p:xfrm>
        <a:graphic>
          <a:graphicData uri="http://schemas.openxmlformats.org/drawingml/2006/chart">
            <c:chart xmlns:c="http://schemas.openxmlformats.org/drawingml/2006/chart" xmlns:r="http://schemas.openxmlformats.org/officeDocument/2006/relationships" r:id="rId2"/>
          </a:graphicData>
        </a:graphic>
      </p:graphicFrame>
      <p:sp>
        <p:nvSpPr>
          <p:cNvPr id="8" name="Content Placeholder 2">
            <a:extLst>
              <a:ext uri="{FF2B5EF4-FFF2-40B4-BE49-F238E27FC236}">
                <a16:creationId xmlns:a16="http://schemas.microsoft.com/office/drawing/2014/main" id="{F23721C5-EF9D-164A-E62A-674AB84DEFB6}"/>
              </a:ext>
            </a:extLst>
          </p:cNvPr>
          <p:cNvSpPr txBox="1">
            <a:spLocks/>
          </p:cNvSpPr>
          <p:nvPr/>
        </p:nvSpPr>
        <p:spPr>
          <a:xfrm>
            <a:off x="8544272" y="1754181"/>
            <a:ext cx="3384376" cy="501181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500" b="1" dirty="0"/>
              <a:t>Facial lesion diagnosis was about a quarter (25.6%) of lesions diagnoses across all body regions</a:t>
            </a:r>
          </a:p>
          <a:p>
            <a:pPr>
              <a:lnSpc>
                <a:spcPct val="120000"/>
              </a:lnSpc>
            </a:pPr>
            <a:r>
              <a:rPr lang="en-GB" sz="2500" b="1" dirty="0"/>
              <a:t>Face, Forearm, Chest, and Back were the top-4 body regions’ lesion diagnoses, accounting for:</a:t>
            </a:r>
          </a:p>
          <a:p>
            <a:pPr marL="0" indent="0">
              <a:lnSpc>
                <a:spcPct val="120000"/>
              </a:lnSpc>
              <a:spcBef>
                <a:spcPts val="600"/>
              </a:spcBef>
              <a:buFont typeface="Arial" pitchFamily="34" charset="0"/>
              <a:buNone/>
            </a:pPr>
            <a:endParaRPr lang="en-GB" sz="900" b="1" dirty="0"/>
          </a:p>
          <a:p>
            <a:pPr marL="539750" lvl="1" indent="-269875">
              <a:lnSpc>
                <a:spcPct val="120000"/>
              </a:lnSpc>
              <a:spcBef>
                <a:spcPts val="1800"/>
              </a:spcBef>
              <a:buFont typeface="Courier New" panose="02070309020205020404" pitchFamily="49" charset="0"/>
              <a:buChar char="o"/>
            </a:pPr>
            <a:r>
              <a:rPr lang="en-GB" b="1" dirty="0"/>
              <a:t>Over two-thirds (66.7%) of all the 14 body regions diagnosed for lesions</a:t>
            </a:r>
          </a:p>
          <a:p>
            <a:pPr marL="803275" lvl="1" indent="-263525">
              <a:lnSpc>
                <a:spcPct val="120000"/>
              </a:lnSpc>
              <a:spcBef>
                <a:spcPts val="1800"/>
              </a:spcBef>
              <a:buFont typeface="Wingdings" panose="05000000000000000000" pitchFamily="2" charset="2"/>
              <a:buChar char="ü"/>
            </a:pPr>
            <a:r>
              <a:rPr lang="en-GB" b="1" dirty="0"/>
              <a:t>Diagnoses were above 100 cases for each of the four body parts</a:t>
            </a:r>
          </a:p>
          <a:p>
            <a:pPr marL="269875" lvl="1" indent="0">
              <a:lnSpc>
                <a:spcPct val="120000"/>
              </a:lnSpc>
              <a:buFont typeface="Arial" pitchFamily="34" charset="0"/>
              <a:buNone/>
            </a:pPr>
            <a:endParaRPr lang="en-GB" sz="1000" b="1" dirty="0"/>
          </a:p>
          <a:p>
            <a:pPr>
              <a:lnSpc>
                <a:spcPct val="120000"/>
              </a:lnSpc>
            </a:pPr>
            <a:r>
              <a:rPr lang="en-GB" sz="2500" b="1" dirty="0"/>
              <a:t>The four body regions with the lowest diagnoses were Abdomen, Scalp, Lip, and Foot: whose combined diagnoses were:</a:t>
            </a:r>
          </a:p>
          <a:p>
            <a:pPr marL="0" indent="0">
              <a:lnSpc>
                <a:spcPct val="120000"/>
              </a:lnSpc>
              <a:spcBef>
                <a:spcPts val="600"/>
              </a:spcBef>
              <a:buNone/>
            </a:pPr>
            <a:endParaRPr lang="en-GB" sz="900" b="1" dirty="0"/>
          </a:p>
          <a:p>
            <a:pPr marL="539750" lvl="1" indent="-269875">
              <a:lnSpc>
                <a:spcPct val="120000"/>
              </a:lnSpc>
              <a:spcBef>
                <a:spcPts val="1800"/>
              </a:spcBef>
              <a:buFont typeface="Courier New" panose="02070309020205020404" pitchFamily="49" charset="0"/>
              <a:buChar char="o"/>
            </a:pPr>
            <a:r>
              <a:rPr lang="en-GB" b="1" dirty="0"/>
              <a:t>Less than 50 cases (just 4%) of all lesion cases diagnosed</a:t>
            </a:r>
          </a:p>
        </p:txBody>
      </p:sp>
    </p:spTree>
    <p:extLst>
      <p:ext uri="{BB962C8B-B14F-4D97-AF65-F5344CB8AC3E}">
        <p14:creationId xmlns:p14="http://schemas.microsoft.com/office/powerpoint/2010/main" val="2922734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318C-3C50-4F14-1DC2-F980E2BC2F2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997510F-1D95-BDB9-4153-F30ED57444A2}"/>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C0DC3066-A1F1-1FFE-50AB-FC715A19D404}"/>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C094DE72-1EF1-F947-9801-EEACDF9F072F}"/>
              </a:ext>
            </a:extLst>
          </p:cNvPr>
          <p:cNvSpPr txBox="1">
            <a:spLocks/>
          </p:cNvSpPr>
          <p:nvPr/>
        </p:nvSpPr>
        <p:spPr>
          <a:xfrm>
            <a:off x="8184232" y="1754182"/>
            <a:ext cx="3744416" cy="44111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Fitzpatrick Scale measures the amount of melanin pigment in one’s skin:</a:t>
            </a:r>
          </a:p>
          <a:p>
            <a:pPr marL="0" indent="0">
              <a:lnSpc>
                <a:spcPct val="120000"/>
              </a:lnSpc>
              <a:spcBef>
                <a:spcPts val="600"/>
              </a:spcBef>
              <a:buFont typeface="Arial" pitchFamily="34" charset="0"/>
              <a:buNone/>
            </a:pPr>
            <a:endParaRPr lang="en-GB" sz="900" b="1" dirty="0"/>
          </a:p>
          <a:p>
            <a:pPr marL="539750" lvl="1" indent="-269875">
              <a:lnSpc>
                <a:spcPct val="120000"/>
              </a:lnSpc>
              <a:spcBef>
                <a:spcPts val="1800"/>
              </a:spcBef>
              <a:buFont typeface="Courier New" panose="02070309020205020404" pitchFamily="49" charset="0"/>
              <a:buChar char="o"/>
            </a:pPr>
            <a:r>
              <a:rPr lang="en-GB" sz="1900" b="1" dirty="0"/>
              <a:t>Skin Type 0 has the highest record of diagnoses of 579</a:t>
            </a:r>
          </a:p>
          <a:p>
            <a:pPr marL="539750" lvl="1" indent="0">
              <a:lnSpc>
                <a:spcPct val="120000"/>
              </a:lnSpc>
              <a:spcBef>
                <a:spcPts val="1800"/>
              </a:spcBef>
              <a:buNone/>
            </a:pPr>
            <a:endParaRPr lang="en-GB" sz="1900" b="1" dirty="0"/>
          </a:p>
          <a:p>
            <a:pPr marL="539750" lvl="1" indent="-269875">
              <a:lnSpc>
                <a:spcPct val="120000"/>
              </a:lnSpc>
              <a:spcBef>
                <a:spcPts val="1800"/>
              </a:spcBef>
              <a:buFont typeface="Courier New" panose="02070309020205020404" pitchFamily="49" charset="0"/>
              <a:buChar char="o"/>
            </a:pPr>
            <a:r>
              <a:rPr lang="en-GB" sz="1900" b="1" dirty="0"/>
              <a:t>Skin Type 6 has the least record of 1 person.</a:t>
            </a:r>
          </a:p>
        </p:txBody>
      </p:sp>
      <p:graphicFrame>
        <p:nvGraphicFramePr>
          <p:cNvPr id="3" name="Chart 2">
            <a:extLst>
              <a:ext uri="{FF2B5EF4-FFF2-40B4-BE49-F238E27FC236}">
                <a16:creationId xmlns:a16="http://schemas.microsoft.com/office/drawing/2014/main" id="{6E3219C2-9626-73F2-8AF9-FCBDEBCD66D1}"/>
              </a:ext>
            </a:extLst>
          </p:cNvPr>
          <p:cNvGraphicFramePr>
            <a:graphicFrameLocks/>
          </p:cNvGraphicFramePr>
          <p:nvPr/>
        </p:nvGraphicFramePr>
        <p:xfrm>
          <a:off x="632790" y="1916832"/>
          <a:ext cx="6764513" cy="42484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7369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61BB-B225-4D0A-59D2-A1456EFA607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5F8E262-F4B3-69AC-2C03-543EE30F5C6A}"/>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C7B9F43A-3FE5-0920-1C39-10FBD47F4A1C}"/>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E1A630DE-41D9-4E6A-B791-BD96B1346395}"/>
              </a:ext>
            </a:extLst>
          </p:cNvPr>
          <p:cNvSpPr txBox="1">
            <a:spLocks/>
          </p:cNvSpPr>
          <p:nvPr/>
        </p:nvSpPr>
        <p:spPr>
          <a:xfrm>
            <a:off x="8040216" y="1754182"/>
            <a:ext cx="3888432" cy="44111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Majority of the lesion size(diameter) is 0 :</a:t>
            </a:r>
          </a:p>
          <a:p>
            <a:pPr marL="0" indent="0">
              <a:lnSpc>
                <a:spcPct val="120000"/>
              </a:lnSpc>
              <a:spcBef>
                <a:spcPts val="600"/>
              </a:spcBef>
              <a:buFont typeface="Arial" pitchFamily="34" charset="0"/>
              <a:buNone/>
            </a:pPr>
            <a:endParaRPr lang="en-GB" sz="900" b="1" dirty="0"/>
          </a:p>
          <a:p>
            <a:pPr marL="539750" lvl="1" indent="-269875">
              <a:lnSpc>
                <a:spcPct val="120000"/>
              </a:lnSpc>
              <a:spcBef>
                <a:spcPts val="1800"/>
              </a:spcBef>
              <a:buFont typeface="Courier New" panose="02070309020205020404" pitchFamily="49" charset="0"/>
              <a:buChar char="o"/>
            </a:pPr>
            <a:r>
              <a:rPr lang="en-GB" sz="1900" b="1" dirty="0"/>
              <a:t>Melanoma has the highest Average diameter of 14.09mm</a:t>
            </a:r>
          </a:p>
          <a:p>
            <a:pPr marL="539750" lvl="1" indent="0">
              <a:lnSpc>
                <a:spcPct val="120000"/>
              </a:lnSpc>
              <a:spcBef>
                <a:spcPts val="1800"/>
              </a:spcBef>
              <a:buNone/>
            </a:pPr>
            <a:endParaRPr lang="en-GB" sz="1900" dirty="0"/>
          </a:p>
          <a:p>
            <a:pPr marL="269875" lvl="1" indent="0">
              <a:lnSpc>
                <a:spcPct val="120000"/>
              </a:lnSpc>
              <a:buFont typeface="Arial" pitchFamily="34" charset="0"/>
              <a:buNone/>
            </a:pPr>
            <a:endParaRPr lang="en-GB" sz="1000" dirty="0"/>
          </a:p>
          <a:p>
            <a:pPr marL="539750" lvl="1" indent="-269875">
              <a:lnSpc>
                <a:spcPct val="120000"/>
              </a:lnSpc>
              <a:spcBef>
                <a:spcPts val="1800"/>
              </a:spcBef>
              <a:buFont typeface="Courier New" panose="02070309020205020404" pitchFamily="49" charset="0"/>
              <a:buChar char="o"/>
            </a:pPr>
            <a:endParaRPr lang="en-GB" sz="1900" dirty="0"/>
          </a:p>
        </p:txBody>
      </p:sp>
      <mc:AlternateContent xmlns:mc="http://schemas.openxmlformats.org/markup-compatibility/2006" xmlns:cx2="http://schemas.microsoft.com/office/drawing/2015/10/21/chartex">
        <mc:Choice Requires="cx2">
          <p:graphicFrame>
            <p:nvGraphicFramePr>
              <p:cNvPr id="5" name="Chart 4">
                <a:extLst>
                  <a:ext uri="{FF2B5EF4-FFF2-40B4-BE49-F238E27FC236}">
                    <a16:creationId xmlns:a16="http://schemas.microsoft.com/office/drawing/2014/main" id="{56FBB8BB-1B0A-40A7-9954-A9166AB355A2}"/>
                  </a:ext>
                </a:extLst>
              </p:cNvPr>
              <p:cNvGraphicFramePr/>
              <p:nvPr>
                <p:extLst>
                  <p:ext uri="{D42A27DB-BD31-4B8C-83A1-F6EECF244321}">
                    <p14:modId xmlns:p14="http://schemas.microsoft.com/office/powerpoint/2010/main" val="3500906902"/>
                  </p:ext>
                </p:extLst>
              </p:nvPr>
            </p:nvGraphicFramePr>
            <p:xfrm>
              <a:off x="767408" y="1916832"/>
              <a:ext cx="6552728" cy="453650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56FBB8BB-1B0A-40A7-9954-A9166AB355A2}"/>
                  </a:ext>
                </a:extLst>
              </p:cNvPr>
              <p:cNvPicPr>
                <a:picLocks noGrp="1" noRot="1" noChangeAspect="1" noMove="1" noResize="1" noEditPoints="1" noAdjustHandles="1" noChangeArrowheads="1" noChangeShapeType="1"/>
              </p:cNvPicPr>
              <p:nvPr/>
            </p:nvPicPr>
            <p:blipFill>
              <a:blip r:embed="rId3"/>
              <a:stretch>
                <a:fillRect/>
              </a:stretch>
            </p:blipFill>
            <p:spPr>
              <a:xfrm>
                <a:off x="767408" y="1916832"/>
                <a:ext cx="6552728" cy="4536504"/>
              </a:xfrm>
              <a:prstGeom prst="rect">
                <a:avLst/>
              </a:prstGeom>
            </p:spPr>
          </p:pic>
        </mc:Fallback>
      </mc:AlternateContent>
    </p:spTree>
    <p:extLst>
      <p:ext uri="{BB962C8B-B14F-4D97-AF65-F5344CB8AC3E}">
        <p14:creationId xmlns:p14="http://schemas.microsoft.com/office/powerpoint/2010/main" val="13071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563E-8190-8485-703C-6D4540B046C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F74369-7DCD-5FC2-19B8-4B1FDCB0FC35}"/>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FB5B7D5F-5F2D-E5AB-F585-0DCBB3C1F98B}"/>
                  </a:ext>
                </a:extLst>
              </p:cNvPr>
              <p:cNvGraphicFramePr/>
              <p:nvPr>
                <p:extLst>
                  <p:ext uri="{D42A27DB-BD31-4B8C-83A1-F6EECF244321}">
                    <p14:modId xmlns:p14="http://schemas.microsoft.com/office/powerpoint/2010/main" val="763798517"/>
                  </p:ext>
                </p:extLst>
              </p:nvPr>
            </p:nvGraphicFramePr>
            <p:xfrm>
              <a:off x="191344" y="2200218"/>
              <a:ext cx="5976664" cy="432048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FB5B7D5F-5F2D-E5AB-F585-0DCBB3C1F98B}"/>
                  </a:ext>
                </a:extLst>
              </p:cNvPr>
              <p:cNvPicPr>
                <a:picLocks noGrp="1" noRot="1" noChangeAspect="1" noMove="1" noResize="1" noEditPoints="1" noAdjustHandles="1" noChangeArrowheads="1" noChangeShapeType="1"/>
              </p:cNvPicPr>
              <p:nvPr/>
            </p:nvPicPr>
            <p:blipFill>
              <a:blip r:embed="rId3"/>
              <a:stretch>
                <a:fillRect/>
              </a:stretch>
            </p:blipFill>
            <p:spPr>
              <a:xfrm>
                <a:off x="191344" y="2200218"/>
                <a:ext cx="5976664" cy="4320480"/>
              </a:xfrm>
              <a:prstGeom prst="rect">
                <a:avLst/>
              </a:prstGeom>
            </p:spPr>
          </p:pic>
        </mc:Fallback>
      </mc:AlternateContent>
      <p:sp>
        <p:nvSpPr>
          <p:cNvPr id="11" name="Title 1">
            <a:extLst>
              <a:ext uri="{FF2B5EF4-FFF2-40B4-BE49-F238E27FC236}">
                <a16:creationId xmlns:a16="http://schemas.microsoft.com/office/drawing/2014/main" id="{16112780-77A1-C8AF-B9B6-9238440397A5}"/>
              </a:ext>
            </a:extLst>
          </p:cNvPr>
          <p:cNvSpPr>
            <a:spLocks noGrp="1"/>
          </p:cNvSpPr>
          <p:nvPr>
            <p:ph type="title"/>
          </p:nvPr>
        </p:nvSpPr>
        <p:spPr>
          <a:xfrm>
            <a:off x="632790" y="404664"/>
            <a:ext cx="2781875" cy="589032"/>
          </a:xfrm>
        </p:spPr>
        <p:txBody>
          <a:bodyPr>
            <a:normAutofit/>
          </a:bodyPr>
          <a:lstStyle/>
          <a:p>
            <a:r>
              <a:rPr lang="en-GB" sz="2800" b="1" dirty="0"/>
              <a:t>…Key Insights</a:t>
            </a:r>
          </a:p>
        </p:txBody>
      </p:sp>
      <p:graphicFrame>
        <p:nvGraphicFramePr>
          <p:cNvPr id="2" name="Chart 1">
            <a:extLst>
              <a:ext uri="{FF2B5EF4-FFF2-40B4-BE49-F238E27FC236}">
                <a16:creationId xmlns:a16="http://schemas.microsoft.com/office/drawing/2014/main" id="{FE57CA68-5F8A-4030-B095-B660848A7594}"/>
              </a:ext>
            </a:extLst>
          </p:cNvPr>
          <p:cNvGraphicFramePr>
            <a:graphicFrameLocks/>
          </p:cNvGraphicFramePr>
          <p:nvPr>
            <p:extLst>
              <p:ext uri="{D42A27DB-BD31-4B8C-83A1-F6EECF244321}">
                <p14:modId xmlns:p14="http://schemas.microsoft.com/office/powerpoint/2010/main" val="1941461437"/>
              </p:ext>
            </p:extLst>
          </p:nvPr>
        </p:nvGraphicFramePr>
        <p:xfrm>
          <a:off x="6240016" y="2204864"/>
          <a:ext cx="2565849" cy="4320480"/>
        </p:xfrm>
        <a:graphic>
          <a:graphicData uri="http://schemas.openxmlformats.org/drawingml/2006/chart">
            <c:chart xmlns:c="http://schemas.openxmlformats.org/drawingml/2006/chart" xmlns:r="http://schemas.openxmlformats.org/officeDocument/2006/relationships" r:id="rId4"/>
          </a:graphicData>
        </a:graphic>
      </p:graphicFrame>
      <p:sp>
        <p:nvSpPr>
          <p:cNvPr id="9" name="Content Placeholder 2">
            <a:extLst>
              <a:ext uri="{FF2B5EF4-FFF2-40B4-BE49-F238E27FC236}">
                <a16:creationId xmlns:a16="http://schemas.microsoft.com/office/drawing/2014/main" id="{A6856ED2-2A44-EB35-749E-AA519845ECB8}"/>
              </a:ext>
            </a:extLst>
          </p:cNvPr>
          <p:cNvSpPr txBox="1">
            <a:spLocks/>
          </p:cNvSpPr>
          <p:nvPr/>
        </p:nvSpPr>
        <p:spPr>
          <a:xfrm>
            <a:off x="348579" y="1844824"/>
            <a:ext cx="3011117" cy="3846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marL="0" indent="0">
              <a:lnSpc>
                <a:spcPct val="110000"/>
              </a:lnSpc>
              <a:spcBef>
                <a:spcPts val="2400"/>
              </a:spcBef>
              <a:buNone/>
            </a:pPr>
            <a:r>
              <a:rPr lang="en-GB" sz="1400" b="1" dirty="0"/>
              <a:t>Lesion diagnoses across age groups</a:t>
            </a:r>
          </a:p>
        </p:txBody>
      </p:sp>
      <p:sp>
        <p:nvSpPr>
          <p:cNvPr id="10" name="Content Placeholder 2">
            <a:extLst>
              <a:ext uri="{FF2B5EF4-FFF2-40B4-BE49-F238E27FC236}">
                <a16:creationId xmlns:a16="http://schemas.microsoft.com/office/drawing/2014/main" id="{6D26301E-4CB7-50FF-BD54-C658381478D4}"/>
              </a:ext>
            </a:extLst>
          </p:cNvPr>
          <p:cNvSpPr txBox="1">
            <a:spLocks/>
          </p:cNvSpPr>
          <p:nvPr/>
        </p:nvSpPr>
        <p:spPr>
          <a:xfrm>
            <a:off x="8544272" y="1754182"/>
            <a:ext cx="3384376" cy="491517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Over three-quarters (78.4%) of all lesion cases diagnosed were people within two age brackets:</a:t>
            </a:r>
          </a:p>
          <a:p>
            <a:pPr marL="0" indent="0">
              <a:lnSpc>
                <a:spcPct val="120000"/>
              </a:lnSpc>
              <a:spcBef>
                <a:spcPts val="600"/>
              </a:spcBef>
              <a:buFont typeface="Arial" pitchFamily="34" charset="0"/>
              <a:buNone/>
            </a:pPr>
            <a:endParaRPr lang="en-GB" sz="900" b="1" dirty="0"/>
          </a:p>
          <a:p>
            <a:pPr marL="539750" lvl="1" indent="-269875">
              <a:lnSpc>
                <a:spcPct val="120000"/>
              </a:lnSpc>
              <a:spcBef>
                <a:spcPts val="1800"/>
              </a:spcBef>
              <a:buFont typeface="Courier New" panose="02070309020205020404" pitchFamily="49" charset="0"/>
              <a:buChar char="o"/>
            </a:pPr>
            <a:r>
              <a:rPr lang="en-GB" sz="1900" b="1" dirty="0"/>
              <a:t>41-60 years (405 cases: representing 37.2% of all cases); and</a:t>
            </a:r>
          </a:p>
          <a:p>
            <a:pPr marL="539750" lvl="1" indent="-269875">
              <a:lnSpc>
                <a:spcPct val="120000"/>
              </a:lnSpc>
              <a:spcBef>
                <a:spcPts val="1800"/>
              </a:spcBef>
              <a:buFont typeface="Courier New" panose="02070309020205020404" pitchFamily="49" charset="0"/>
              <a:buChar char="o"/>
            </a:pPr>
            <a:r>
              <a:rPr lang="en-GB" sz="1900" b="1" dirty="0"/>
              <a:t>61-80 years (448 cases: representing 41.2% of all cases)</a:t>
            </a:r>
          </a:p>
          <a:p>
            <a:pPr marL="269875" lvl="1" indent="0">
              <a:lnSpc>
                <a:spcPct val="120000"/>
              </a:lnSpc>
              <a:buFont typeface="Arial" pitchFamily="34" charset="0"/>
              <a:buNone/>
            </a:pPr>
            <a:endParaRPr lang="en-GB" sz="1000" b="1" dirty="0"/>
          </a:p>
          <a:p>
            <a:pPr>
              <a:lnSpc>
                <a:spcPct val="120000"/>
              </a:lnSpc>
            </a:pPr>
            <a:r>
              <a:rPr lang="en-GB" sz="2200" b="1" dirty="0"/>
              <a:t>Lowest cases records were among the youngest and the oldest:</a:t>
            </a:r>
          </a:p>
          <a:p>
            <a:pPr marL="0" indent="0">
              <a:lnSpc>
                <a:spcPct val="120000"/>
              </a:lnSpc>
              <a:spcBef>
                <a:spcPts val="600"/>
              </a:spcBef>
              <a:buNone/>
            </a:pPr>
            <a:endParaRPr lang="en-GB" sz="900" b="1" dirty="0"/>
          </a:p>
          <a:p>
            <a:pPr marL="539750" lvl="1" indent="-269875">
              <a:lnSpc>
                <a:spcPct val="120000"/>
              </a:lnSpc>
              <a:spcBef>
                <a:spcPts val="1800"/>
              </a:spcBef>
              <a:buFont typeface="Courier New" panose="02070309020205020404" pitchFamily="49" charset="0"/>
              <a:buChar char="o"/>
            </a:pPr>
            <a:r>
              <a:rPr lang="en-GB" sz="1900" b="1" dirty="0"/>
              <a:t>81-100 years (78 cases: representing 7.2% of all cases); and</a:t>
            </a:r>
          </a:p>
          <a:p>
            <a:pPr marL="539750" lvl="1" indent="-269875">
              <a:lnSpc>
                <a:spcPct val="120000"/>
              </a:lnSpc>
              <a:spcBef>
                <a:spcPts val="1800"/>
              </a:spcBef>
              <a:buFont typeface="Courier New" panose="02070309020205020404" pitchFamily="49" charset="0"/>
              <a:buChar char="o"/>
            </a:pPr>
            <a:r>
              <a:rPr lang="en-GB" sz="1900" b="1" dirty="0"/>
              <a:t>Under 20 years (20 cases: representing 1.8% of all cases)</a:t>
            </a:r>
          </a:p>
        </p:txBody>
      </p:sp>
    </p:spTree>
    <p:extLst>
      <p:ext uri="{BB962C8B-B14F-4D97-AF65-F5344CB8AC3E}">
        <p14:creationId xmlns:p14="http://schemas.microsoft.com/office/powerpoint/2010/main" val="2178128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C97D2-7F38-4F2B-43CF-81D04309766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09E7540-CD4C-A925-F4B6-D3B4C2286179}"/>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B6E82269-88B0-05A3-B6E6-25750B843000}"/>
              </a:ext>
            </a:extLst>
          </p:cNvPr>
          <p:cNvSpPr>
            <a:spLocks noGrp="1"/>
          </p:cNvSpPr>
          <p:nvPr>
            <p:ph type="title"/>
          </p:nvPr>
        </p:nvSpPr>
        <p:spPr>
          <a:xfrm>
            <a:off x="632790" y="404664"/>
            <a:ext cx="2781875" cy="589032"/>
          </a:xfrm>
        </p:spPr>
        <p:txBody>
          <a:bodyPr>
            <a:normAutofit/>
          </a:bodyPr>
          <a:lstStyle/>
          <a:p>
            <a:r>
              <a:rPr lang="en-GB" sz="2800" b="1" dirty="0"/>
              <a:t>…Key Insights</a:t>
            </a:r>
          </a:p>
        </p:txBody>
      </p:sp>
      <p:graphicFrame>
        <p:nvGraphicFramePr>
          <p:cNvPr id="3" name="Chart 2">
            <a:extLst>
              <a:ext uri="{FF2B5EF4-FFF2-40B4-BE49-F238E27FC236}">
                <a16:creationId xmlns:a16="http://schemas.microsoft.com/office/drawing/2014/main" id="{9B255DB4-50D5-2C0F-FADE-B2C79BD922CD}"/>
              </a:ext>
            </a:extLst>
          </p:cNvPr>
          <p:cNvGraphicFramePr>
            <a:graphicFrameLocks/>
          </p:cNvGraphicFramePr>
          <p:nvPr>
            <p:extLst>
              <p:ext uri="{D42A27DB-BD31-4B8C-83A1-F6EECF244321}">
                <p14:modId xmlns:p14="http://schemas.microsoft.com/office/powerpoint/2010/main" val="1588288356"/>
              </p:ext>
            </p:extLst>
          </p:nvPr>
        </p:nvGraphicFramePr>
        <p:xfrm>
          <a:off x="335360" y="1700808"/>
          <a:ext cx="7488832" cy="475252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a:extLst>
              <a:ext uri="{FF2B5EF4-FFF2-40B4-BE49-F238E27FC236}">
                <a16:creationId xmlns:a16="http://schemas.microsoft.com/office/drawing/2014/main" id="{9A05224E-8F4E-C0C2-3DDC-4EE44838BA96}"/>
              </a:ext>
            </a:extLst>
          </p:cNvPr>
          <p:cNvSpPr txBox="1">
            <a:spLocks/>
          </p:cNvSpPr>
          <p:nvPr/>
        </p:nvSpPr>
        <p:spPr>
          <a:xfrm>
            <a:off x="7968208" y="1754182"/>
            <a:ext cx="3960440" cy="475252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Average cancer history was higher than average skin cancer history: </a:t>
            </a:r>
          </a:p>
          <a:p>
            <a:pPr marL="0" indent="0">
              <a:lnSpc>
                <a:spcPct val="120000"/>
              </a:lnSpc>
              <a:spcBef>
                <a:spcPts val="600"/>
              </a:spcBef>
              <a:buFont typeface="Arial" pitchFamily="34" charset="0"/>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Among the Benign and precancerous lesions’ diagnoses</a:t>
            </a:r>
          </a:p>
          <a:p>
            <a:pPr marL="803275" lvl="1" indent="-263525">
              <a:lnSpc>
                <a:spcPct val="120000"/>
              </a:lnSpc>
              <a:spcBef>
                <a:spcPts val="1800"/>
              </a:spcBef>
              <a:buFont typeface="Wingdings" panose="05000000000000000000" pitchFamily="2" charset="2"/>
              <a:buChar char="ü"/>
            </a:pPr>
            <a:r>
              <a:rPr lang="en-GB" sz="1900" dirty="0"/>
              <a:t>Nevus (Mole), Seborrheic Keratosis, and Actinic Keratosis;</a:t>
            </a:r>
            <a:r>
              <a:rPr lang="en-GB" sz="2100" dirty="0"/>
              <a:t> </a:t>
            </a:r>
          </a:p>
          <a:p>
            <a:pPr marL="539750" lvl="1" indent="0">
              <a:lnSpc>
                <a:spcPct val="120000"/>
              </a:lnSpc>
              <a:spcBef>
                <a:spcPts val="1800"/>
              </a:spcBef>
              <a:buNone/>
            </a:pPr>
            <a:r>
              <a:rPr lang="en-GB" sz="1900" dirty="0"/>
              <a:t>And</a:t>
            </a:r>
          </a:p>
          <a:p>
            <a:pPr marL="269875" lvl="1" indent="0">
              <a:lnSpc>
                <a:spcPct val="120000"/>
              </a:lnSpc>
              <a:buFont typeface="Arial" pitchFamily="34" charset="0"/>
              <a:buNone/>
            </a:pPr>
            <a:endParaRPr lang="en-GB" sz="1000" dirty="0"/>
          </a:p>
          <a:p>
            <a:pPr marL="539750" lvl="1" indent="-269875">
              <a:lnSpc>
                <a:spcPct val="120000"/>
              </a:lnSpc>
              <a:spcBef>
                <a:spcPts val="1800"/>
              </a:spcBef>
              <a:buFont typeface="Courier New" panose="02070309020205020404" pitchFamily="49" charset="0"/>
              <a:buChar char="o"/>
            </a:pPr>
            <a:r>
              <a:rPr lang="en-GB" sz="1900" dirty="0"/>
              <a:t>Among the three types of skin cancer identified in the data</a:t>
            </a:r>
          </a:p>
          <a:p>
            <a:pPr marL="803275" lvl="1" indent="-263525">
              <a:lnSpc>
                <a:spcPct val="120000"/>
              </a:lnSpc>
              <a:spcBef>
                <a:spcPts val="1800"/>
              </a:spcBef>
              <a:buFont typeface="Wingdings" panose="05000000000000000000" pitchFamily="2" charset="2"/>
              <a:buChar char="ü"/>
            </a:pPr>
            <a:r>
              <a:rPr lang="en-GB" sz="1900" dirty="0"/>
              <a:t>Basal Cell Carcinoma, Squamous Cell Carcinoma, and Melanoma</a:t>
            </a:r>
          </a:p>
        </p:txBody>
      </p:sp>
    </p:spTree>
    <p:extLst>
      <p:ext uri="{BB962C8B-B14F-4D97-AF65-F5344CB8AC3E}">
        <p14:creationId xmlns:p14="http://schemas.microsoft.com/office/powerpoint/2010/main" val="347886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8CFC-F6BC-593B-A563-1BF1BDF90C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76DC160-6A04-DA37-4DC4-30ABFB70AC93}"/>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A9A4996D-67A6-CE60-E30F-0DBC073794CA}"/>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55B12B45-2EE0-5ECA-2043-7032C03DD5F7}"/>
              </a:ext>
            </a:extLst>
          </p:cNvPr>
          <p:cNvSpPr txBox="1">
            <a:spLocks/>
          </p:cNvSpPr>
          <p:nvPr/>
        </p:nvSpPr>
        <p:spPr>
          <a:xfrm>
            <a:off x="8184232" y="1754182"/>
            <a:ext cx="3744416" cy="441112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Smoking/ Drinking Lifestyle:</a:t>
            </a:r>
          </a:p>
          <a:p>
            <a:pPr marL="0" indent="0">
              <a:lnSpc>
                <a:spcPct val="120000"/>
              </a:lnSpc>
              <a:spcBef>
                <a:spcPts val="600"/>
              </a:spcBef>
              <a:buFont typeface="Arial" pitchFamily="34" charset="0"/>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Significant amount of patients were NONE alcoholics and Smokers.</a:t>
            </a:r>
          </a:p>
          <a:p>
            <a:pPr marL="539750" lvl="1" indent="0">
              <a:lnSpc>
                <a:spcPct val="120000"/>
              </a:lnSpc>
              <a:spcBef>
                <a:spcPts val="1800"/>
              </a:spcBef>
              <a:buNone/>
            </a:pPr>
            <a:endParaRPr lang="en-GB" sz="1900" dirty="0"/>
          </a:p>
          <a:p>
            <a:pPr marL="269875" lvl="1" indent="0">
              <a:lnSpc>
                <a:spcPct val="120000"/>
              </a:lnSpc>
              <a:buFont typeface="Arial" pitchFamily="34" charset="0"/>
              <a:buNone/>
            </a:pPr>
            <a:endParaRPr lang="en-GB" sz="1000" dirty="0"/>
          </a:p>
          <a:p>
            <a:pPr marL="539750" lvl="1" indent="-269875">
              <a:lnSpc>
                <a:spcPct val="120000"/>
              </a:lnSpc>
              <a:spcBef>
                <a:spcPts val="1800"/>
              </a:spcBef>
              <a:buFont typeface="Courier New" panose="02070309020205020404" pitchFamily="49" charset="0"/>
              <a:buChar char="o"/>
            </a:pPr>
            <a:r>
              <a:rPr lang="en-GB" sz="1900" dirty="0"/>
              <a:t>There are very little corelation/impact of drinking or smoking and diagnoses .</a:t>
            </a:r>
          </a:p>
        </p:txBody>
      </p:sp>
      <p:graphicFrame>
        <p:nvGraphicFramePr>
          <p:cNvPr id="5" name="Chart 4">
            <a:extLst>
              <a:ext uri="{FF2B5EF4-FFF2-40B4-BE49-F238E27FC236}">
                <a16:creationId xmlns:a16="http://schemas.microsoft.com/office/drawing/2014/main" id="{F796B7F6-360F-9680-14F4-86E4A4C6D1DC}"/>
              </a:ext>
            </a:extLst>
          </p:cNvPr>
          <p:cNvGraphicFramePr>
            <a:graphicFrameLocks/>
          </p:cNvGraphicFramePr>
          <p:nvPr>
            <p:extLst>
              <p:ext uri="{D42A27DB-BD31-4B8C-83A1-F6EECF244321}">
                <p14:modId xmlns:p14="http://schemas.microsoft.com/office/powerpoint/2010/main" val="3938550799"/>
              </p:ext>
            </p:extLst>
          </p:nvPr>
        </p:nvGraphicFramePr>
        <p:xfrm>
          <a:off x="632790" y="1754182"/>
          <a:ext cx="7119394" cy="46271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875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C487A-E479-EE48-25B1-C2031CDF5B8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A5BE44-DF32-D302-DB0B-9D74DB779463}"/>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6BAE6792-EFB2-DED5-9EEF-B4BBFAB2461C}"/>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60B7B9BA-BEF9-02FB-B2B0-B7D731A2DD49}"/>
              </a:ext>
            </a:extLst>
          </p:cNvPr>
          <p:cNvSpPr txBox="1">
            <a:spLocks/>
          </p:cNvSpPr>
          <p:nvPr/>
        </p:nvSpPr>
        <p:spPr>
          <a:xfrm>
            <a:off x="7705111" y="1754181"/>
            <a:ext cx="4223537" cy="501181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dirty="0"/>
              <a:t>Some environmental exposures negatively contributed to skin conditions:</a:t>
            </a:r>
          </a:p>
          <a:p>
            <a:pPr marL="0" indent="0">
              <a:lnSpc>
                <a:spcPct val="120000"/>
              </a:lnSpc>
              <a:spcBef>
                <a:spcPts val="600"/>
              </a:spcBef>
              <a:buFont typeface="Arial" pitchFamily="34" charset="0"/>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Lack of access to piped water and absence of sewage system significantly contributed to benign and precancerous lesions’ diagnoses such as;</a:t>
            </a:r>
          </a:p>
          <a:p>
            <a:pPr marL="803275" lvl="1" indent="-263525">
              <a:lnSpc>
                <a:spcPct val="120000"/>
              </a:lnSpc>
              <a:spcBef>
                <a:spcPts val="1800"/>
              </a:spcBef>
              <a:buFont typeface="Wingdings" panose="05000000000000000000" pitchFamily="2" charset="2"/>
              <a:buChar char="ü"/>
            </a:pPr>
            <a:r>
              <a:rPr lang="en-GB" sz="1900" dirty="0"/>
              <a:t>Seborrheic Keratosis, Nevus (Mole), and Actinic Keratosis</a:t>
            </a:r>
          </a:p>
          <a:p>
            <a:pPr marL="269875" lvl="1" indent="0">
              <a:lnSpc>
                <a:spcPct val="120000"/>
              </a:lnSpc>
              <a:buFont typeface="Arial" pitchFamily="34" charset="0"/>
              <a:buNone/>
            </a:pPr>
            <a:endParaRPr lang="en-GB" sz="1000" dirty="0"/>
          </a:p>
          <a:p>
            <a:pPr marL="539750" lvl="1" indent="-269875">
              <a:lnSpc>
                <a:spcPct val="120000"/>
              </a:lnSpc>
              <a:spcBef>
                <a:spcPts val="1800"/>
              </a:spcBef>
              <a:buFont typeface="Courier New" panose="02070309020205020404" pitchFamily="49" charset="0"/>
              <a:buChar char="o"/>
            </a:pPr>
            <a:r>
              <a:rPr lang="en-GB" sz="1900" dirty="0"/>
              <a:t>Pesticide exposure, and both the lack of access to piped water and the absence of sewage system also had major negative effects on the three types of skin cancer identified in the data</a:t>
            </a:r>
          </a:p>
          <a:p>
            <a:pPr marL="803275" lvl="1" indent="-263525">
              <a:lnSpc>
                <a:spcPct val="120000"/>
              </a:lnSpc>
              <a:spcBef>
                <a:spcPts val="1800"/>
              </a:spcBef>
              <a:buFont typeface="Wingdings" panose="05000000000000000000" pitchFamily="2" charset="2"/>
              <a:buChar char="ü"/>
            </a:pPr>
            <a:r>
              <a:rPr lang="en-GB" sz="1900" dirty="0"/>
              <a:t>Basal Cell Carcinoma, Squamous Cell Carcinoma, and Melanoma</a:t>
            </a:r>
          </a:p>
        </p:txBody>
      </p:sp>
      <p:graphicFrame>
        <p:nvGraphicFramePr>
          <p:cNvPr id="6" name="Chart 5">
            <a:extLst>
              <a:ext uri="{FF2B5EF4-FFF2-40B4-BE49-F238E27FC236}">
                <a16:creationId xmlns:a16="http://schemas.microsoft.com/office/drawing/2014/main" id="{53EC2494-CA3D-42D9-86C8-045FB12ECE03}"/>
              </a:ext>
            </a:extLst>
          </p:cNvPr>
          <p:cNvGraphicFramePr>
            <a:graphicFrameLocks/>
          </p:cNvGraphicFramePr>
          <p:nvPr>
            <p:extLst>
              <p:ext uri="{D42A27DB-BD31-4B8C-83A1-F6EECF244321}">
                <p14:modId xmlns:p14="http://schemas.microsoft.com/office/powerpoint/2010/main" val="3480518209"/>
              </p:ext>
            </p:extLst>
          </p:nvPr>
        </p:nvGraphicFramePr>
        <p:xfrm>
          <a:off x="263352" y="1628800"/>
          <a:ext cx="7441759" cy="48245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44425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2A34-F44C-EDA4-9474-E12F4C71A59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C30F42-669A-EAD6-529A-D286E53BE304}"/>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DD277713-25D3-9ABC-0141-F7F04088D3F2}"/>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15875B10-8AF3-512F-6146-DB154EB37F0D}"/>
              </a:ext>
            </a:extLst>
          </p:cNvPr>
          <p:cNvSpPr txBox="1">
            <a:spLocks/>
          </p:cNvSpPr>
          <p:nvPr/>
        </p:nvSpPr>
        <p:spPr>
          <a:xfrm>
            <a:off x="8040216" y="1754181"/>
            <a:ext cx="3888432" cy="47711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This chart shows the diagnostic lesions that  were biopsy-confirmed:</a:t>
            </a:r>
          </a:p>
          <a:p>
            <a:pPr marL="0" indent="0">
              <a:lnSpc>
                <a:spcPct val="120000"/>
              </a:lnSpc>
              <a:spcBef>
                <a:spcPts val="600"/>
              </a:spcBef>
              <a:buFont typeface="Arial" pitchFamily="34" charset="0"/>
              <a:buNone/>
            </a:pPr>
            <a:endParaRPr lang="en-GB" sz="900" dirty="0"/>
          </a:p>
          <a:p>
            <a:pPr marL="539750" lvl="1" indent="-269875">
              <a:lnSpc>
                <a:spcPct val="120000"/>
              </a:lnSpc>
              <a:spcBef>
                <a:spcPts val="1800"/>
              </a:spcBef>
              <a:buFont typeface="Courier New" panose="02070309020205020404" pitchFamily="49" charset="0"/>
              <a:buChar char="o"/>
            </a:pPr>
            <a:r>
              <a:rPr lang="en-GB" sz="1900" dirty="0"/>
              <a:t>The 3 types of skin cancers identified in the data were all 100% biopsy-confirmed. These cancers are;</a:t>
            </a:r>
          </a:p>
          <a:p>
            <a:pPr marL="803275" lvl="1" indent="-263525">
              <a:lnSpc>
                <a:spcPct val="120000"/>
              </a:lnSpc>
              <a:spcBef>
                <a:spcPts val="1800"/>
              </a:spcBef>
              <a:buFont typeface="Wingdings" panose="05000000000000000000" pitchFamily="2" charset="2"/>
              <a:buChar char="ü"/>
            </a:pPr>
            <a:r>
              <a:rPr lang="en-GB" sz="1900" dirty="0"/>
              <a:t>Basal Cell Carcinoma, Squamous Cell Carcinoma, and Melanoma</a:t>
            </a:r>
          </a:p>
          <a:p>
            <a:pPr marL="803275" lvl="1" indent="-263525">
              <a:lnSpc>
                <a:spcPct val="120000"/>
              </a:lnSpc>
              <a:spcBef>
                <a:spcPts val="1800"/>
              </a:spcBef>
              <a:buFont typeface="Wingdings" panose="05000000000000000000" pitchFamily="2" charset="2"/>
              <a:buChar char="ü"/>
            </a:pPr>
            <a:r>
              <a:rPr lang="en-GB" sz="1900" dirty="0"/>
              <a:t>Overall  confirmed biopsy rate is 56%</a:t>
            </a:r>
          </a:p>
          <a:p>
            <a:pPr marL="539750" lvl="1" indent="-269875">
              <a:lnSpc>
                <a:spcPct val="120000"/>
              </a:lnSpc>
              <a:spcBef>
                <a:spcPts val="1800"/>
              </a:spcBef>
              <a:buFont typeface="Courier New" panose="02070309020205020404" pitchFamily="49" charset="0"/>
              <a:buChar char="o"/>
            </a:pPr>
            <a:endParaRPr lang="en-GB" sz="1900" dirty="0"/>
          </a:p>
          <a:p>
            <a:pPr marL="539750" lvl="1" indent="0">
              <a:lnSpc>
                <a:spcPct val="120000"/>
              </a:lnSpc>
              <a:spcBef>
                <a:spcPts val="1800"/>
              </a:spcBef>
              <a:buNone/>
            </a:pPr>
            <a:endParaRPr lang="en-GB" sz="1900" dirty="0"/>
          </a:p>
          <a:p>
            <a:pPr marL="269875" lvl="1" indent="0">
              <a:lnSpc>
                <a:spcPct val="120000"/>
              </a:lnSpc>
              <a:buFont typeface="Arial" pitchFamily="34" charset="0"/>
              <a:buNone/>
            </a:pPr>
            <a:endParaRPr lang="en-GB" sz="1000" dirty="0"/>
          </a:p>
          <a:p>
            <a:pPr marL="539750" lvl="1" indent="-269875">
              <a:lnSpc>
                <a:spcPct val="120000"/>
              </a:lnSpc>
              <a:spcBef>
                <a:spcPts val="1800"/>
              </a:spcBef>
              <a:buFont typeface="Courier New" panose="02070309020205020404" pitchFamily="49" charset="0"/>
              <a:buChar char="o"/>
            </a:pPr>
            <a:endParaRPr lang="en-GB" sz="1900" dirty="0"/>
          </a:p>
        </p:txBody>
      </p:sp>
      <p:graphicFrame>
        <p:nvGraphicFramePr>
          <p:cNvPr id="2" name="Chart 1">
            <a:extLst>
              <a:ext uri="{FF2B5EF4-FFF2-40B4-BE49-F238E27FC236}">
                <a16:creationId xmlns:a16="http://schemas.microsoft.com/office/drawing/2014/main" id="{C460712B-530B-4CE4-8234-EE0521E35542}"/>
              </a:ext>
            </a:extLst>
          </p:cNvPr>
          <p:cNvGraphicFramePr>
            <a:graphicFrameLocks/>
          </p:cNvGraphicFramePr>
          <p:nvPr>
            <p:extLst>
              <p:ext uri="{D42A27DB-BD31-4B8C-83A1-F6EECF244321}">
                <p14:modId xmlns:p14="http://schemas.microsoft.com/office/powerpoint/2010/main" val="2492202962"/>
              </p:ext>
            </p:extLst>
          </p:nvPr>
        </p:nvGraphicFramePr>
        <p:xfrm>
          <a:off x="479376" y="1844825"/>
          <a:ext cx="7344816" cy="46805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563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3649D-EE2A-CEE7-3766-37793FE6F8A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470C9A3-5D5D-55D3-96D1-30477FA42B03}"/>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12236397-9371-A156-4FD4-5A9C4AD596C6}"/>
              </a:ext>
            </a:extLst>
          </p:cNvPr>
          <p:cNvSpPr>
            <a:spLocks noGrp="1"/>
          </p:cNvSpPr>
          <p:nvPr>
            <p:ph type="title"/>
          </p:nvPr>
        </p:nvSpPr>
        <p:spPr>
          <a:xfrm>
            <a:off x="632790" y="404664"/>
            <a:ext cx="2781875" cy="589032"/>
          </a:xfrm>
        </p:spPr>
        <p:txBody>
          <a:bodyPr>
            <a:normAutofit/>
          </a:bodyPr>
          <a:lstStyle/>
          <a:p>
            <a:r>
              <a:rPr lang="en-GB" sz="2800" b="1" dirty="0"/>
              <a:t>…Key Insights</a:t>
            </a:r>
          </a:p>
        </p:txBody>
      </p:sp>
      <p:sp>
        <p:nvSpPr>
          <p:cNvPr id="7" name="Content Placeholder 2">
            <a:extLst>
              <a:ext uri="{FF2B5EF4-FFF2-40B4-BE49-F238E27FC236}">
                <a16:creationId xmlns:a16="http://schemas.microsoft.com/office/drawing/2014/main" id="{1E37771B-5A32-41E3-0764-A6E2D5A66DDD}"/>
              </a:ext>
            </a:extLst>
          </p:cNvPr>
          <p:cNvSpPr txBox="1">
            <a:spLocks/>
          </p:cNvSpPr>
          <p:nvPr/>
        </p:nvSpPr>
        <p:spPr>
          <a:xfrm>
            <a:off x="8040216" y="1754181"/>
            <a:ext cx="3888432" cy="4771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a:lstStyle>
          <a:p>
            <a:pPr>
              <a:lnSpc>
                <a:spcPct val="120000"/>
              </a:lnSpc>
            </a:pPr>
            <a:r>
              <a:rPr lang="en-GB" sz="2200" b="1" dirty="0"/>
              <a:t>Diagnostic Characteristics/Symptoms:</a:t>
            </a:r>
          </a:p>
          <a:p>
            <a:pPr marL="0" indent="0">
              <a:lnSpc>
                <a:spcPct val="120000"/>
              </a:lnSpc>
              <a:spcBef>
                <a:spcPts val="600"/>
              </a:spcBef>
              <a:buFont typeface="Arial" pitchFamily="34" charset="0"/>
              <a:buNone/>
            </a:pPr>
            <a:endParaRPr lang="en-GB" sz="900" dirty="0"/>
          </a:p>
          <a:p>
            <a:pPr marL="539750" lvl="1" indent="-269875" algn="just">
              <a:lnSpc>
                <a:spcPts val="2280"/>
              </a:lnSpc>
              <a:spcBef>
                <a:spcPts val="0"/>
              </a:spcBef>
              <a:buFont typeface="Courier New" panose="02070309020205020404" pitchFamily="49" charset="0"/>
              <a:buChar char="o"/>
            </a:pPr>
            <a:r>
              <a:rPr lang="en-GB" sz="1900" dirty="0"/>
              <a:t>Actinic Keratosis has an average score of 80% itchiness.</a:t>
            </a:r>
          </a:p>
          <a:p>
            <a:pPr marL="539750" lvl="1" indent="-269875" algn="just">
              <a:lnSpc>
                <a:spcPts val="2280"/>
              </a:lnSpc>
              <a:spcBef>
                <a:spcPts val="0"/>
              </a:spcBef>
              <a:buFont typeface="Courier New" panose="02070309020205020404" pitchFamily="49" charset="0"/>
              <a:buChar char="o"/>
            </a:pPr>
            <a:r>
              <a:rPr lang="en-GB" sz="1900" dirty="0"/>
              <a:t>Basal Cell Carcinoma has (90% Elevation, 80% growth and itchiness respectively and 60% Bleeding rate.</a:t>
            </a:r>
          </a:p>
          <a:p>
            <a:pPr marL="539750" lvl="1" indent="-269875" algn="just">
              <a:lnSpc>
                <a:spcPts val="2280"/>
              </a:lnSpc>
              <a:spcBef>
                <a:spcPts val="0"/>
              </a:spcBef>
              <a:buFont typeface="Courier New" panose="02070309020205020404" pitchFamily="49" charset="0"/>
              <a:buChar char="o"/>
            </a:pPr>
            <a:r>
              <a:rPr lang="en-GB" sz="1900" dirty="0"/>
              <a:t>Melanoma</a:t>
            </a:r>
          </a:p>
          <a:p>
            <a:pPr marL="539750" lvl="1" indent="-269875" algn="just">
              <a:lnSpc>
                <a:spcPts val="2280"/>
              </a:lnSpc>
              <a:spcBef>
                <a:spcPts val="0"/>
              </a:spcBef>
              <a:buFont typeface="Courier New" panose="02070309020205020404" pitchFamily="49" charset="0"/>
              <a:buChar char="o"/>
            </a:pPr>
            <a:r>
              <a:rPr lang="en-GB" sz="1900" dirty="0"/>
              <a:t>Nevus (Mole)</a:t>
            </a:r>
          </a:p>
          <a:p>
            <a:pPr marL="539750" lvl="1" indent="-269875" algn="just">
              <a:lnSpc>
                <a:spcPts val="2280"/>
              </a:lnSpc>
              <a:spcBef>
                <a:spcPts val="0"/>
              </a:spcBef>
              <a:buFont typeface="Courier New" panose="02070309020205020404" pitchFamily="49" charset="0"/>
              <a:buChar char="o"/>
            </a:pPr>
            <a:r>
              <a:rPr lang="en-GB" sz="1900" dirty="0"/>
              <a:t>Squamous Cell Carcinoma</a:t>
            </a:r>
          </a:p>
          <a:p>
            <a:pPr marL="539750" lvl="1" indent="-269875" algn="just">
              <a:lnSpc>
                <a:spcPts val="2280"/>
              </a:lnSpc>
              <a:spcBef>
                <a:spcPts val="0"/>
              </a:spcBef>
              <a:buFont typeface="Courier New" panose="02070309020205020404" pitchFamily="49" charset="0"/>
              <a:buChar char="o"/>
            </a:pPr>
            <a:r>
              <a:rPr lang="en-GB" sz="1900" dirty="0"/>
              <a:t> Seborrheic Keratosis</a:t>
            </a:r>
          </a:p>
          <a:p>
            <a:pPr marL="539750" lvl="1" indent="0">
              <a:lnSpc>
                <a:spcPct val="120000"/>
              </a:lnSpc>
              <a:spcBef>
                <a:spcPts val="1800"/>
              </a:spcBef>
              <a:buNone/>
            </a:pPr>
            <a:endParaRPr lang="en-GB" sz="1900" dirty="0"/>
          </a:p>
          <a:p>
            <a:pPr marL="269875" lvl="1" indent="0">
              <a:lnSpc>
                <a:spcPct val="120000"/>
              </a:lnSpc>
              <a:buFont typeface="Arial" pitchFamily="34" charset="0"/>
              <a:buNone/>
            </a:pPr>
            <a:endParaRPr lang="en-GB" sz="1000" dirty="0"/>
          </a:p>
          <a:p>
            <a:pPr marL="269875" lvl="1" indent="0">
              <a:lnSpc>
                <a:spcPct val="120000"/>
              </a:lnSpc>
              <a:spcBef>
                <a:spcPts val="1800"/>
              </a:spcBef>
              <a:buNone/>
            </a:pPr>
            <a:endParaRPr lang="en-GB" sz="1900" dirty="0"/>
          </a:p>
        </p:txBody>
      </p:sp>
      <p:graphicFrame>
        <p:nvGraphicFramePr>
          <p:cNvPr id="2" name="Chart 1">
            <a:extLst>
              <a:ext uri="{FF2B5EF4-FFF2-40B4-BE49-F238E27FC236}">
                <a16:creationId xmlns:a16="http://schemas.microsoft.com/office/drawing/2014/main" id="{F46CAE6F-896A-4545-BA8F-E8672646B668}"/>
              </a:ext>
            </a:extLst>
          </p:cNvPr>
          <p:cNvGraphicFramePr>
            <a:graphicFrameLocks/>
          </p:cNvGraphicFramePr>
          <p:nvPr>
            <p:extLst>
              <p:ext uri="{D42A27DB-BD31-4B8C-83A1-F6EECF244321}">
                <p14:modId xmlns:p14="http://schemas.microsoft.com/office/powerpoint/2010/main" val="2992601765"/>
              </p:ext>
            </p:extLst>
          </p:nvPr>
        </p:nvGraphicFramePr>
        <p:xfrm>
          <a:off x="479376" y="1628800"/>
          <a:ext cx="7352951" cy="49685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55983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46A1-BD89-17E9-71EE-2C5D6D161D6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78923E-5788-0B63-AEE1-03E835FFA6FF}"/>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11" name="Title 1">
            <a:extLst>
              <a:ext uri="{FF2B5EF4-FFF2-40B4-BE49-F238E27FC236}">
                <a16:creationId xmlns:a16="http://schemas.microsoft.com/office/drawing/2014/main" id="{E722EF0C-A98A-6033-BA9B-DA80F838EB1D}"/>
              </a:ext>
            </a:extLst>
          </p:cNvPr>
          <p:cNvSpPr>
            <a:spLocks noGrp="1"/>
          </p:cNvSpPr>
          <p:nvPr>
            <p:ph type="title"/>
          </p:nvPr>
        </p:nvSpPr>
        <p:spPr>
          <a:xfrm>
            <a:off x="632790" y="404664"/>
            <a:ext cx="2870922" cy="589032"/>
          </a:xfrm>
        </p:spPr>
        <p:txBody>
          <a:bodyPr>
            <a:normAutofit fontScale="90000"/>
          </a:bodyPr>
          <a:lstStyle/>
          <a:p>
            <a:r>
              <a:rPr lang="en-GB" sz="2800" b="1" dirty="0"/>
              <a:t>Recommendations</a:t>
            </a:r>
          </a:p>
        </p:txBody>
      </p:sp>
      <p:sp>
        <p:nvSpPr>
          <p:cNvPr id="6" name="Content Placeholder 2">
            <a:extLst>
              <a:ext uri="{FF2B5EF4-FFF2-40B4-BE49-F238E27FC236}">
                <a16:creationId xmlns:a16="http://schemas.microsoft.com/office/drawing/2014/main" id="{D4817F1F-F0B4-284F-FB9E-33EA336DBC80}"/>
              </a:ext>
            </a:extLst>
          </p:cNvPr>
          <p:cNvSpPr>
            <a:spLocks noGrp="1"/>
          </p:cNvSpPr>
          <p:nvPr>
            <p:ph idx="1"/>
          </p:nvPr>
        </p:nvSpPr>
        <p:spPr>
          <a:xfrm>
            <a:off x="407368" y="1556792"/>
            <a:ext cx="11161240" cy="5209203"/>
          </a:xfrm>
        </p:spPr>
        <p:txBody>
          <a:bodyPr>
            <a:normAutofit/>
          </a:bodyPr>
          <a:lstStyle/>
          <a:p>
            <a:pPr>
              <a:lnSpc>
                <a:spcPct val="110000"/>
              </a:lnSpc>
              <a:spcBef>
                <a:spcPts val="2400"/>
              </a:spcBef>
            </a:pPr>
            <a:r>
              <a:rPr lang="en-GB" sz="1400" b="1" dirty="0"/>
              <a:t>Overhaul the data collection and documentation procedures to reduce the proportion of unknown records (Especially with respect to family background, which was more than 50% of the data used for this analysis)</a:t>
            </a:r>
          </a:p>
          <a:p>
            <a:pPr>
              <a:lnSpc>
                <a:spcPct val="110000"/>
              </a:lnSpc>
              <a:spcBef>
                <a:spcPts val="2400"/>
              </a:spcBef>
            </a:pPr>
            <a:r>
              <a:rPr lang="en-GB" sz="1400" b="1" dirty="0"/>
              <a:t>Expand access to piped water and sewage system</a:t>
            </a:r>
          </a:p>
          <a:p>
            <a:pPr>
              <a:lnSpc>
                <a:spcPct val="110000"/>
              </a:lnSpc>
              <a:spcBef>
                <a:spcPts val="2400"/>
              </a:spcBef>
            </a:pPr>
            <a:r>
              <a:rPr lang="en-GB" sz="1400" b="1" dirty="0"/>
              <a:t>Embark on campaigns to communicate the negative impact of harmful substances(Pesticide) on health across all age groups and genders</a:t>
            </a:r>
          </a:p>
          <a:p>
            <a:pPr>
              <a:lnSpc>
                <a:spcPct val="110000"/>
              </a:lnSpc>
              <a:spcBef>
                <a:spcPts val="2400"/>
              </a:spcBef>
            </a:pPr>
            <a:r>
              <a:rPr lang="en-GB" sz="1400" b="1" dirty="0"/>
              <a:t>Understand the reasons for the prevalence of benign, pre-cancerous and cancerous skin conditions in males and those within the 41-60 and the 61-80 age groups</a:t>
            </a:r>
          </a:p>
          <a:p>
            <a:pPr>
              <a:lnSpc>
                <a:spcPct val="110000"/>
              </a:lnSpc>
              <a:spcBef>
                <a:spcPts val="2400"/>
              </a:spcBef>
            </a:pPr>
            <a:r>
              <a:rPr lang="en-GB" sz="1400" b="1" dirty="0"/>
              <a:t>Investigate why each and the combined risk levels of the Face, the Forearm, the Chest, and the Back were the highest among the 14 body regions’ lesions that were diagnosed , and how these risks exposures can be reduced</a:t>
            </a:r>
          </a:p>
          <a:p>
            <a:pPr>
              <a:lnSpc>
                <a:spcPct val="110000"/>
              </a:lnSpc>
              <a:spcBef>
                <a:spcPts val="2400"/>
              </a:spcBef>
            </a:pPr>
            <a:r>
              <a:rPr lang="en-GB" sz="1400" b="1" dirty="0"/>
              <a:t>Early identification of ACK (pre cancerous)  which has the highest diagnosis (42%) as it develops to SCC if not managed</a:t>
            </a:r>
          </a:p>
          <a:p>
            <a:pPr>
              <a:lnSpc>
                <a:spcPct val="110000"/>
              </a:lnSpc>
              <a:spcBef>
                <a:spcPts val="2400"/>
              </a:spcBef>
            </a:pPr>
            <a:r>
              <a:rPr lang="en-GB" sz="1400" b="1" dirty="0"/>
              <a:t>Previous skin-cancer history and family cancer history are also associated with higher BCC/SCC shares, which needs further investigation.</a:t>
            </a:r>
          </a:p>
          <a:p>
            <a:pPr>
              <a:lnSpc>
                <a:spcPct val="110000"/>
              </a:lnSpc>
              <a:spcBef>
                <a:spcPts val="2400"/>
              </a:spcBef>
            </a:pPr>
            <a:r>
              <a:rPr lang="en-GB" sz="1400" b="1" dirty="0"/>
              <a:t>Identify  Melanoma early and start early interventions because it has the highest change rate (80%) and growth rate (90%); And BCC has the highest bleeding rate a 60%</a:t>
            </a:r>
          </a:p>
          <a:p>
            <a:pPr>
              <a:lnSpc>
                <a:spcPct val="110000"/>
              </a:lnSpc>
              <a:spcBef>
                <a:spcPts val="2400"/>
              </a:spcBef>
            </a:pPr>
            <a:endParaRPr lang="en-GB" sz="1400" b="1" dirty="0"/>
          </a:p>
          <a:p>
            <a:pPr>
              <a:lnSpc>
                <a:spcPct val="110000"/>
              </a:lnSpc>
              <a:spcBef>
                <a:spcPts val="2400"/>
              </a:spcBef>
            </a:pPr>
            <a:endParaRPr lang="en-GB" sz="1400" b="1" dirty="0"/>
          </a:p>
        </p:txBody>
      </p:sp>
    </p:spTree>
    <p:extLst>
      <p:ext uri="{BB962C8B-B14F-4D97-AF65-F5344CB8AC3E}">
        <p14:creationId xmlns:p14="http://schemas.microsoft.com/office/powerpoint/2010/main" val="315230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6E41A-C552-8A3F-3218-FEB8831EDC7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C49BFE8-0554-C238-A13E-0F7A6F9A018C}"/>
              </a:ext>
            </a:extLst>
          </p:cNvPr>
          <p:cNvSpPr txBox="1">
            <a:spLocks/>
          </p:cNvSpPr>
          <p:nvPr/>
        </p:nvSpPr>
        <p:spPr>
          <a:xfrm>
            <a:off x="9264352" y="92005"/>
            <a:ext cx="2781874" cy="3846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GB" sz="1400" b="1" dirty="0" err="1">
                <a:solidFill>
                  <a:srgbClr val="FFFF00"/>
                </a:solidFill>
              </a:rPr>
              <a:t>DermAI</a:t>
            </a:r>
            <a:r>
              <a:rPr lang="en-GB" sz="1400" b="1" dirty="0">
                <a:solidFill>
                  <a:srgbClr val="FFFF00"/>
                </a:solidFill>
              </a:rPr>
              <a:t> Diagnostics Skin Cancer</a:t>
            </a:r>
          </a:p>
        </p:txBody>
      </p:sp>
      <p:sp>
        <p:nvSpPr>
          <p:cNvPr id="6" name="Content Placeholder 2">
            <a:extLst>
              <a:ext uri="{FF2B5EF4-FFF2-40B4-BE49-F238E27FC236}">
                <a16:creationId xmlns:a16="http://schemas.microsoft.com/office/drawing/2014/main" id="{EE9D911E-A631-DE0F-A4CC-3D8121D00230}"/>
              </a:ext>
            </a:extLst>
          </p:cNvPr>
          <p:cNvSpPr>
            <a:spLocks noGrp="1"/>
          </p:cNvSpPr>
          <p:nvPr>
            <p:ph idx="1"/>
          </p:nvPr>
        </p:nvSpPr>
        <p:spPr>
          <a:xfrm>
            <a:off x="623392" y="1916832"/>
            <a:ext cx="10945216" cy="4464496"/>
          </a:xfrm>
        </p:spPr>
        <p:txBody>
          <a:bodyPr>
            <a:normAutofit/>
          </a:bodyPr>
          <a:lstStyle/>
          <a:p>
            <a:pPr marL="0" indent="0">
              <a:lnSpc>
                <a:spcPct val="110000"/>
              </a:lnSpc>
              <a:spcBef>
                <a:spcPts val="2400"/>
              </a:spcBef>
              <a:buNone/>
            </a:pPr>
            <a:r>
              <a:rPr lang="en-GB" sz="9600" dirty="0"/>
              <a:t>		THANK YOU</a:t>
            </a:r>
          </a:p>
        </p:txBody>
      </p:sp>
      <p:sp>
        <p:nvSpPr>
          <p:cNvPr id="3" name="Title 2">
            <a:extLst>
              <a:ext uri="{FF2B5EF4-FFF2-40B4-BE49-F238E27FC236}">
                <a16:creationId xmlns:a16="http://schemas.microsoft.com/office/drawing/2014/main" id="{F5BE8A6C-9EE5-728F-AB8E-F3A5180E11FE}"/>
              </a:ext>
            </a:extLst>
          </p:cNvPr>
          <p:cNvSpPr>
            <a:spLocks noGrp="1"/>
          </p:cNvSpPr>
          <p:nvPr>
            <p:ph type="title"/>
          </p:nvPr>
        </p:nvSpPr>
        <p:spPr/>
        <p:txBody>
          <a:bodyPr/>
          <a:lstStyle/>
          <a:p>
            <a:r>
              <a:rPr lang="en-GB" dirty="0"/>
              <a:t>			</a:t>
            </a:r>
          </a:p>
        </p:txBody>
      </p:sp>
    </p:spTree>
    <p:extLst>
      <p:ext uri="{BB962C8B-B14F-4D97-AF65-F5344CB8AC3E}">
        <p14:creationId xmlns:p14="http://schemas.microsoft.com/office/powerpoint/2010/main" val="238462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Editorial</Template>
  <TotalTime>1675</TotalTime>
  <Words>1268</Words>
  <Application>Microsoft Office PowerPoint</Application>
  <PresentationFormat>Widescreen</PresentationFormat>
  <Paragraphs>161</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 Narrow</vt:lpstr>
      <vt:lpstr>Arial</vt:lpstr>
      <vt:lpstr>Courier New</vt:lpstr>
      <vt:lpstr>Franklin Gothic Medium</vt:lpstr>
      <vt:lpstr>Wingdings</vt:lpstr>
      <vt:lpstr>Medical Design 16x9</vt:lpstr>
      <vt:lpstr>DermAI Diagnostics Skin Cancer Analytics</vt:lpstr>
      <vt:lpstr>Information about the Company</vt:lpstr>
      <vt:lpstr>Business Problem &amp; Required Interventions</vt:lpstr>
      <vt:lpstr>Key Analytics for the Project</vt:lpstr>
      <vt:lpstr>PowerPoint Presentation</vt:lpstr>
      <vt:lpstr>Key Insights…</vt:lpstr>
      <vt:lpstr>…Key Insights</vt:lpstr>
      <vt:lpstr>…Key Insights</vt:lpstr>
      <vt:lpstr>…Key Insights</vt:lpstr>
      <vt:lpstr>…Key Insights</vt:lpstr>
      <vt:lpstr>…Key Insights</vt:lpstr>
      <vt:lpstr>…Key Insights</vt:lpstr>
      <vt:lpstr>…Key Insights</vt:lpstr>
      <vt:lpstr>…Key Insights</vt:lpstr>
      <vt:lpstr>…Key Insights</vt:lpstr>
      <vt:lpstr>…Key Insights</vt:lpstr>
      <vt:lpstr>Recommendations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Olatunji Inaolaji</dc:creator>
  <cp:lastModifiedBy>Nnennaya Ihekwoaba</cp:lastModifiedBy>
  <cp:revision>41</cp:revision>
  <dcterms:created xsi:type="dcterms:W3CDTF">2026-10-01T22:32:00Z</dcterms:created>
  <dcterms:modified xsi:type="dcterms:W3CDTF">2026-10-03T17:18:33Z</dcterms:modified>
</cp:coreProperties>
</file>